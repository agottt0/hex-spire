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88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8A2B1C"/>
                </a:solidFill>
                <a:latin typeface="Consolas"/>
              </a:rPr>
              <a:t>ART HIGH CONCEPT  ·  v0.1  ·  2026.08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72768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8A93A6"/>
                </a:solidFill>
                <a:latin typeface="微软雅黑"/>
              </a:rPr>
              <a:t>（暂名）</a:t>
            </a:r>
            <a:r>
              <a:rPr sz="5200" b="1" i="0">
                <a:solidFill>
                  <a:srgbClr val="EEE7DD"/>
                </a:solidFill>
                <a:latin typeface="微软雅黑"/>
              </a:rPr>
              <a:t>Hex Spire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 i="0">
                <a:solidFill>
                  <a:srgbClr val="EEE7DD"/>
                </a:solidFill>
                <a:latin typeface="微软雅黑"/>
              </a:rPr>
              <a:t>美术高概念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017520"/>
            <a:ext cx="822960" cy="3810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310128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 i="0">
                <a:solidFill>
                  <a:srgbClr val="6C4464"/>
                </a:solidFill>
                <a:latin typeface="微软雅黑"/>
              </a:rPr>
              <a:t>在熟悉的城市中，我们走进了不熟悉的世界。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84048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50" b="0" i="0">
                <a:solidFill>
                  <a:srgbClr val="EEE7DD"/>
                </a:solidFill>
                <a:latin typeface="微软雅黑"/>
              </a:rPr>
              <a:t>画面里 </a:t>
            </a:r>
            <a:r>
              <a:rPr sz="1450" b="1" i="0">
                <a:solidFill>
                  <a:srgbClr val="3DD6D0"/>
                </a:solidFill>
                <a:latin typeface="微软雅黑"/>
              </a:rPr>
              <a:t>90%</a:t>
            </a:r>
            <a:r>
              <a:rPr sz="1450" b="0" i="0">
                <a:solidFill>
                  <a:srgbClr val="EEE7DD"/>
                </a:solidFill>
                <a:latin typeface="微软雅黑"/>
              </a:rPr>
              <a:t> 是你今天真的见过的城市，</a:t>
            </a:r>
            <a:r>
              <a:rPr sz="1450" b="1" i="0">
                <a:solidFill>
                  <a:srgbClr val="FF3B30"/>
                </a:solidFill>
                <a:latin typeface="微软雅黑"/>
              </a:rPr>
              <a:t>10%</a:t>
            </a:r>
            <a:r>
              <a:rPr sz="1450" b="0" i="0">
                <a:solidFill>
                  <a:srgbClr val="EEE7DD"/>
                </a:solidFill>
                <a:latin typeface="微软雅黑"/>
              </a:rPr>
              <a:t> 不对劲。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50" b="0" i="0">
                <a:solidFill>
                  <a:srgbClr val="8A93A6"/>
                </a:solidFill>
                <a:latin typeface="微软雅黑"/>
              </a:rPr>
              <a:t>恐怖来自那 10%，不来自那 90%。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846320"/>
            <a:ext cx="530352" cy="237744"/>
          </a:xfrm>
          <a:prstGeom prst="rect">
            <a:avLst/>
          </a:prstGeom>
          <a:noFill/>
          <a:ln w="9525">
            <a:solidFill>
              <a:srgbClr val="2D3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87832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D3949"/>
                </a:solidFill>
                <a:latin typeface="微软雅黑"/>
              </a:rPr>
              <a:t>单人肉鸽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0160" y="4846320"/>
            <a:ext cx="608076" cy="237744"/>
          </a:xfrm>
          <a:prstGeom prst="rect">
            <a:avLst/>
          </a:prstGeom>
          <a:noFill/>
          <a:ln w="9525">
            <a:solidFill>
              <a:srgbClr val="2D3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878324"/>
            <a:ext cx="6080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D3949"/>
                </a:solidFill>
                <a:latin typeface="微软雅黑"/>
              </a:rPr>
              <a:t>六边形战棋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79676" y="4846320"/>
            <a:ext cx="530352" cy="237744"/>
          </a:xfrm>
          <a:prstGeom prst="rect">
            <a:avLst/>
          </a:prstGeom>
          <a:noFill/>
          <a:ln w="9525">
            <a:solidFill>
              <a:srgbClr val="2D3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79676" y="487832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D3949"/>
                </a:solidFill>
                <a:latin typeface="微软雅黑"/>
              </a:rPr>
              <a:t>卡牌构筑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01468" y="4846320"/>
            <a:ext cx="1074420" cy="237744"/>
          </a:xfrm>
          <a:prstGeom prst="rect">
            <a:avLst/>
          </a:prstGeom>
          <a:noFill/>
          <a:ln w="9525">
            <a:solidFill>
              <a:srgbClr val="8A2B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1468" y="4878324"/>
            <a:ext cx="10744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2B1C"/>
                </a:solidFill>
                <a:latin typeface="微软雅黑"/>
              </a:rPr>
              <a:t>东方怪谈 × 现代城市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3583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对齐 </a:t>
            </a:r>
            <a:r>
              <a:rPr sz="1100" b="0" i="0">
                <a:solidFill>
                  <a:srgbClr val="8A93A6"/>
                </a:solidFill>
                <a:latin typeface="Consolas"/>
              </a:rPr>
              <a:t>00_系统策划案.md v0.3</a:t>
            </a:r>
            <a:r>
              <a:rPr sz="1100" b="0" i="0">
                <a:solidFill>
                  <a:srgbClr val="5B6476"/>
                </a:solidFill>
                <a:latin typeface="微软雅黑"/>
              </a:rPr>
              <a:t>   ·   待决项 A1–A8 见末页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CONTENTS · 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这份文档要回答什么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美术不是“画得好看”，而是“每一条都能被验收”。全篇 16 节，本 PPT 取其中最需要拍板与最容易翻车的部分。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993392"/>
            <a:ext cx="5166360" cy="896112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993392"/>
            <a:ext cx="38100" cy="896112"/>
          </a:xfrm>
          <a:prstGeom prst="rect">
            <a:avLst/>
          </a:prstGeom>
          <a:solidFill>
            <a:srgbClr val="3D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13055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3DD6D0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1122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微软雅黑"/>
              </a:rPr>
              <a:t>美术定位与三大支柱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24688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V3 可读性 &gt; V1 可信度 &gt; V2 克制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993392"/>
            <a:ext cx="5166360" cy="896112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1993392"/>
            <a:ext cx="38100" cy="896112"/>
          </a:xfrm>
          <a:prstGeom prst="rect">
            <a:avLst/>
          </a:prstGeom>
          <a:solidFill>
            <a:srgbClr val="8A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213055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8A2B1C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31736" y="21122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微软雅黑"/>
              </a:rPr>
              <a:t>核心转译公式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1736" y="24688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怪谈是怎么长在城市里的（16 条词表）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054096"/>
            <a:ext cx="5166360" cy="896112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054096"/>
            <a:ext cx="38100" cy="896112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191256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6D0409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31729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微软雅黑"/>
              </a:rPr>
              <a:t>色彩系统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99616" y="3529584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场景色板 × 功能色，红色冲突的解法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3054096"/>
            <a:ext cx="5166360" cy="896112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3054096"/>
            <a:ext cx="38100" cy="896112"/>
          </a:xfrm>
          <a:prstGeom prst="rect">
            <a:avLst/>
          </a:prstGeom>
          <a:solidFill>
            <a:srgbClr val="6C4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9944" y="3191256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6C4464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31736" y="31729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微软雅黑"/>
              </a:rPr>
              <a:t>三章场景高概念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1736" y="3529584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黄泉线 / 百鬼市 / 阴司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14800"/>
            <a:ext cx="5166360" cy="896112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4114800"/>
            <a:ext cx="38100" cy="896112"/>
          </a:xfrm>
          <a:prstGeom prst="rect">
            <a:avLst/>
          </a:prstGeom>
          <a:solidFill>
            <a:srgbClr val="B47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4251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B47FE8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9616" y="423367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微软雅黑"/>
              </a:rPr>
              <a:t>角色与怪物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9616" y="459028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四职业配比 · 1/3/6 格体型的视觉承载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0488" y="4114800"/>
            <a:ext cx="5166360" cy="896112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90488" y="4114800"/>
            <a:ext cx="38100" cy="896112"/>
          </a:xfrm>
          <a:prstGeom prst="rect">
            <a:avLst/>
          </a:prstGeom>
          <a:solidFill>
            <a:srgbClr val="7FA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9944" y="4251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7FA8D9"/>
                </a:solidFill>
                <a:latin typeface="Consolas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1736" y="423367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微软雅黑"/>
              </a:rPr>
              <a:t>战场与 Tile 规范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31736" y="459028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128px 尖顶六边形 · R1–R9 可读性硬规则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175504"/>
            <a:ext cx="5166360" cy="896112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175504"/>
            <a:ext cx="38100" cy="896112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" y="531266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3B30"/>
                </a:solidFill>
                <a:latin typeface="Consolas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99616" y="52943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微软雅黑"/>
              </a:rPr>
              <a:t>腐蚀度视觉表达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99616" y="5650992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一张底图 + 三组贴花 + 四档后处理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0488" y="5175504"/>
            <a:ext cx="5166360" cy="896112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90488" y="5175504"/>
            <a:ext cx="38100" cy="896112"/>
          </a:xfrm>
          <a:prstGeom prst="rect">
            <a:avLst/>
          </a:prstGeom>
          <a:solidFill>
            <a:srgbClr val="FFC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9944" y="531266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C94D"/>
                </a:solidFill>
                <a:latin typeface="Consolas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1736" y="529437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微软雅黑"/>
              </a:rPr>
              <a:t>红线 · M0 清单 · 待决项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1736" y="5650992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明确不做什么 + 怎么验收 + A1–A8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01 · 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L0 总方向 Moodboard：已锁定，不再讨论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它已经完成了它的工作 —— 定基调、对外沟通、外包首页。后续所有资产以它为准，不再改它。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pic>
        <p:nvPicPr>
          <p:cNvPr id="9" name="Picture 8" descr="img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74519"/>
            <a:ext cx="7360920" cy="4142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1874519"/>
            <a:ext cx="7360920" cy="4142232"/>
          </a:xfrm>
          <a:prstGeom prst="rect">
            <a:avLst/>
          </a:prstGeom>
          <a:noFill/>
          <a:ln w="12700">
            <a:solidFill>
              <a:srgbClr val="262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87451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C94D"/>
                </a:solidFill>
                <a:latin typeface="微软雅黑"/>
              </a:rPr>
              <a:t>L0 已锁定的五件事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240280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6D0409"/>
                </a:solidFill>
                <a:latin typeface="微软雅黑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240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EEE7DD"/>
                </a:solidFill>
                <a:latin typeface="微软雅黑"/>
              </a:rPr>
              <a:t>主色三元：夜蓝 / 靛紫 + 朱红 + 香灰白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42616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6D0409"/>
                </a:solidFill>
                <a:latin typeface="微软雅黑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64261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EEE7DD"/>
                </a:solidFill>
                <a:latin typeface="微软雅黑"/>
              </a:rPr>
              <a:t>剪影 + 氛围光（背光 / 逆光为主）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044952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6D0409"/>
                </a:solidFill>
                <a:latin typeface="微软雅黑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30449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EEE7DD"/>
                </a:solidFill>
                <a:latin typeface="微软雅黑"/>
              </a:rPr>
              <a:t>高对比、低中间调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447288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6D0409"/>
                </a:solidFill>
                <a:latin typeface="微软雅黑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4472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EEE7DD"/>
                </a:solidFill>
                <a:latin typeface="微软雅黑"/>
              </a:rPr>
              <a:t>东方符号作为点缀，而非主体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849624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6D0409"/>
                </a:solidFill>
                <a:latin typeface="微软雅黑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8496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EEE7DD"/>
                </a:solidFill>
                <a:latin typeface="微软雅黑"/>
              </a:rPr>
              <a:t>情绪四词：诡谲 / 压迫 / 孤独 / 神秘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343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3B30"/>
                </a:solidFill>
                <a:latin typeface="微软雅黑"/>
              </a:rPr>
              <a:t>但 L0 不足以开工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681728"/>
            <a:ext cx="331012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L0 解决的是“这个游戏长什么样”。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开工还缺 </a:t>
            </a:r>
            <a:r>
              <a:rPr sz="1150" b="1" i="0">
                <a:solidFill>
                  <a:srgbClr val="EEE7DD"/>
                </a:solidFill>
                <a:latin typeface="微软雅黑"/>
              </a:rPr>
              <a:t>7 张 L1 moodboard</a:t>
            </a:r>
            <a:r>
              <a:rPr sz="1150" b="0" i="0">
                <a:solidFill>
                  <a:srgbClr val="8A93A6"/>
                </a:solidFill>
                <a:latin typeface="微软雅黑"/>
              </a:rPr>
              <a:t>（MB-01~07）。其中 </a:t>
            </a:r>
            <a:r>
              <a:rPr sz="1150" b="1" i="0">
                <a:solidFill>
                  <a:srgbClr val="3DD6D0"/>
                </a:solidFill>
                <a:latin typeface="微软雅黑"/>
              </a:rPr>
              <a:t>MB-03 战斗可读性</a:t>
            </a:r>
            <a:r>
              <a:rPr sz="1150" b="0" i="0">
                <a:solidFill>
                  <a:srgbClr val="8A93A6"/>
                </a:solidFill>
                <a:latin typeface="微软雅黑"/>
              </a:rPr>
              <a:t> 最容易被跳过，也最不该跳过 —— 其他 moodboard 教美术“怎么变好看”，只有它教美术“怎么别挡住玩家”。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01 · 支柱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三大美术支柱：优先级是硬的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当氛围与可读性冲突时（一定会冲突），永远牺牲氛围。这是 45 分钟一局、要玩几百小时的肉鸽，不是一次性的恐怖体验。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103120"/>
            <a:ext cx="3456432" cy="324612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103120"/>
            <a:ext cx="3456432" cy="44450"/>
          </a:xfrm>
          <a:prstGeom prst="rect">
            <a:avLst/>
          </a:prstGeom>
          <a:solidFill>
            <a:srgbClr val="6C4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860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6C4464"/>
                </a:solidFill>
                <a:latin typeface="Consolas"/>
              </a:rPr>
              <a:t>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3957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EE7DD"/>
                </a:solidFill>
                <a:latin typeface="微软雅黑"/>
              </a:rPr>
              <a:t>日常的可信度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7180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EEE7DD"/>
                </a:solidFill>
                <a:latin typeface="微软雅黑"/>
              </a:rPr>
              <a:t>城市部分必须写实、有生活垢、有年代感。城市不可信 → 异常不恐怖。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4041648"/>
            <a:ext cx="2999232" cy="889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187952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做完了怎么验收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44398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任何一张场景图，遮住异常元素后，应该像一张普通的城市夜景照片。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4255" y="2103120"/>
            <a:ext cx="3456432" cy="324612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5" y="2103120"/>
            <a:ext cx="3456432" cy="44450"/>
          </a:xfrm>
          <a:prstGeom prst="rect">
            <a:avLst/>
          </a:prstGeom>
          <a:solidFill>
            <a:srgbClr val="8A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1999" y="22860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8A2B1C"/>
                </a:solidFill>
                <a:latin typeface="Consolas"/>
              </a:rPr>
              <a:t>V2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2975" y="23957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EE7DD"/>
                </a:solidFill>
                <a:latin typeface="微软雅黑"/>
              </a:rPr>
              <a:t>异常的克制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297180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EEE7DD"/>
                </a:solidFill>
                <a:latin typeface="微软雅黑"/>
              </a:rPr>
              <a:t>每个画面的“不对劲”控制在 1–3 处，且必须是逻辑错误而非血浆。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1999" y="4041648"/>
            <a:ext cx="2999232" cy="889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1999" y="4187952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做完了怎么验收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444398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每张场景图能明确列出异常清单，条目数 ≤3。数不出来、或数出 8 条 = 不合格。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10142" y="2103120"/>
            <a:ext cx="3456432" cy="324612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10142" y="2103120"/>
            <a:ext cx="3456432" cy="44450"/>
          </a:xfrm>
          <a:prstGeom prst="rect">
            <a:avLst/>
          </a:prstGeom>
          <a:solidFill>
            <a:srgbClr val="3D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6" y="22860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3DD6D0"/>
                </a:solidFill>
                <a:latin typeface="Consolas"/>
              </a:rPr>
              <a:t>V3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2" y="23957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EE7DD"/>
                </a:solidFill>
                <a:latin typeface="微软雅黑"/>
              </a:rPr>
              <a:t>战斗的可读性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6" y="297180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EEE7DD"/>
                </a:solidFill>
                <a:latin typeface="微软雅黑"/>
              </a:rPr>
              <a:t>战斗中氛围让位于信息。玩家必须 0.5 秒内读出：谁在哪、占几格、朝哪、下回合要干什么。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6" y="4041648"/>
            <a:ext cx="2999232" cy="889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6" y="4187952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做完了怎么验收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6" y="444398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把画面降到 25% 缩略图，仍能分清己方 / 敌方 / 危害格 / 体型轮廓。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596128"/>
            <a:ext cx="10874959" cy="566928"/>
          </a:xfrm>
          <a:prstGeom prst="rect">
            <a:avLst/>
          </a:prstGeom>
          <a:solidFill>
            <a:srgbClr val="1E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596128"/>
            <a:ext cx="44450" cy="566928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705856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8A93A6"/>
                </a:solidFill>
                <a:latin typeface="微软雅黑"/>
              </a:rPr>
              <a:t>优先级： </a:t>
            </a:r>
            <a:r>
              <a:rPr sz="1350" b="1" i="0">
                <a:solidFill>
                  <a:srgbClr val="3DD6D0"/>
                </a:solidFill>
                <a:latin typeface="微软雅黑"/>
              </a:rPr>
              <a:t>V3 可读性</a:t>
            </a:r>
            <a:r>
              <a:rPr sz="1350" b="0" i="0">
                <a:solidFill>
                  <a:srgbClr val="5B6476"/>
                </a:solidFill>
                <a:latin typeface="微软雅黑"/>
              </a:rPr>
              <a:t>  &gt;  </a:t>
            </a:r>
            <a:r>
              <a:rPr sz="1350" b="1" i="0">
                <a:solidFill>
                  <a:srgbClr val="6C4464"/>
                </a:solidFill>
                <a:latin typeface="微软雅黑"/>
              </a:rPr>
              <a:t>V1 可信度</a:t>
            </a:r>
            <a:r>
              <a:rPr sz="1350" b="0" i="0">
                <a:solidFill>
                  <a:srgbClr val="5B6476"/>
                </a:solidFill>
                <a:latin typeface="微软雅黑"/>
              </a:rPr>
              <a:t>  &gt;  </a:t>
            </a:r>
            <a:r>
              <a:rPr sz="1350" b="1" i="0">
                <a:solidFill>
                  <a:srgbClr val="8A2B1C"/>
                </a:solidFill>
                <a:latin typeface="微软雅黑"/>
              </a:rPr>
              <a:t>V2 克制</a:t>
            </a:r>
            <a:r>
              <a:rPr sz="1350" b="0" i="0">
                <a:solidFill>
                  <a:srgbClr val="8A93A6"/>
                </a:solidFill>
                <a:latin typeface="微软雅黑"/>
              </a:rPr>
              <a:t>      冲突时的处理不是“折中”，而是“牺牲氛围”。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02 · 公式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核心转译公式：怪谈是怎么长在城市里的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所有场景与怪物设计都走同一个公式。这是最需要被外包和 AI 生成理解的一节。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938528"/>
            <a:ext cx="10874959" cy="868680"/>
          </a:xfrm>
          <a:prstGeom prst="rect">
            <a:avLst/>
          </a:prstGeom>
          <a:solidFill>
            <a:srgbClr val="18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EE7DD"/>
                </a:solidFill>
                <a:latin typeface="微软雅黑"/>
              </a:rPr>
              <a:t>怪谈元素 =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75688" y="2157984"/>
            <a:ext cx="2331720" cy="438912"/>
          </a:xfrm>
          <a:prstGeom prst="rect">
            <a:avLst/>
          </a:prstGeom>
          <a:noFill/>
          <a:ln w="13970">
            <a:solidFill>
              <a:srgbClr val="6C44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5688" y="225856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C4464"/>
                </a:solidFill>
                <a:latin typeface="微软雅黑"/>
              </a:rPr>
              <a:t>【传统母题】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2212848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B6476"/>
                </a:solidFill>
                <a:latin typeface="微软雅黑"/>
              </a:rPr>
              <a:t>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2157984"/>
            <a:ext cx="2834640" cy="438912"/>
          </a:xfrm>
          <a:prstGeom prst="rect">
            <a:avLst/>
          </a:prstGeom>
          <a:noFill/>
          <a:ln w="13970">
            <a:solidFill>
              <a:srgbClr val="7FA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25856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7FA8D9"/>
                </a:solidFill>
                <a:latin typeface="微软雅黑"/>
              </a:rPr>
              <a:t>【现代城市载体】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212848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B6476"/>
                </a:solidFill>
                <a:latin typeface="微软雅黑"/>
              </a:rPr>
              <a:t>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2157984"/>
            <a:ext cx="3383280" cy="438912"/>
          </a:xfrm>
          <a:prstGeom prst="rect">
            <a:avLst/>
          </a:prstGeom>
          <a:noFill/>
          <a:ln w="13970">
            <a:solidFill>
              <a:srgbClr val="FF3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25856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3B30"/>
                </a:solidFill>
                <a:latin typeface="微软雅黑"/>
              </a:rPr>
              <a:t>【一处日常逻辑错误】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3B30"/>
                </a:solidFill>
                <a:latin typeface="微软雅黑"/>
              </a:rPr>
              <a:t>缺【传统母题】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30175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A93A6"/>
                </a:solidFill>
                <a:latin typeface="微软雅黑"/>
              </a:rPr>
              <a:t>→ 变成普通都市废墟 / 克苏鲁，失去“东方”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4015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3B30"/>
                </a:solidFill>
                <a:latin typeface="微软雅黑"/>
              </a:rPr>
              <a:t>缺【现代城市载体】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34015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A93A6"/>
                </a:solidFill>
                <a:latin typeface="微软雅黑"/>
              </a:rPr>
              <a:t>→ 变成古风灵异，失去“现代”，也失去玩家的代入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785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3B30"/>
                </a:solidFill>
                <a:latin typeface="微软雅黑"/>
              </a:rPr>
              <a:t>缺【日常逻辑错误】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8648" y="378561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8A93A6"/>
                </a:solidFill>
                <a:latin typeface="微软雅黑"/>
              </a:rPr>
              <a:t>→ 变成美术堆料，玩家只觉得“红红的挺好看”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315968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微软雅黑"/>
              </a:rPr>
              <a:t>转译词表节选（完整 16 条见文档 §2.1，持续扩充）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645152"/>
            <a:ext cx="7882127" cy="301752"/>
          </a:xfrm>
          <a:prstGeom prst="rect">
            <a:avLst/>
          </a:prstGeom>
          <a:solidFill>
            <a:srgbClr val="1D2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4704588"/>
            <a:ext cx="14081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传统母题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3432" y="4704588"/>
            <a:ext cx="177393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现代城市载体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33672" y="4704588"/>
            <a:ext cx="32369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日常逻辑错误（异常点）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16952" y="4704588"/>
            <a:ext cx="877824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用在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4946904"/>
            <a:ext cx="7882127" cy="301752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946904"/>
            <a:ext cx="7882127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5001768"/>
            <a:ext cx="14081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微软雅黑"/>
              </a:rPr>
              <a:t>走无常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13432" y="5001768"/>
            <a:ext cx="177393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末班车司机 / 安检员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5001768"/>
            <a:ext cx="32369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制服正确、工牌正确，但没有影子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2" y="5001768"/>
            <a:ext cx="877824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黄泉线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48656"/>
            <a:ext cx="7882127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8952" y="5303520"/>
            <a:ext cx="14081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微软雅黑"/>
              </a:rPr>
              <a:t>纸扎（纸马纸屋）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13432" y="5303520"/>
            <a:ext cx="177393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商场家电区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33672" y="5303520"/>
            <a:ext cx="32369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冰箱电视是纸糊的，纸马停在扭蛋机旁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16952" y="5303520"/>
            <a:ext cx="877824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百鬼市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5550408"/>
            <a:ext cx="7882127" cy="301752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5550408"/>
            <a:ext cx="7882127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8952" y="5605272"/>
            <a:ext cx="14081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微软雅黑"/>
              </a:rPr>
              <a:t>冥币面额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13432" y="5605272"/>
            <a:ext cx="177393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价签 / 促销吊旗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33672" y="5605272"/>
            <a:ext cx="32369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单位不是元，是“年”（用寿命付账）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16952" y="5605272"/>
            <a:ext cx="877824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百鬼市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5852160"/>
            <a:ext cx="7882127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" y="5907024"/>
            <a:ext cx="14081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微软雅黑"/>
              </a:rPr>
              <a:t>孟婆汤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13432" y="5907024"/>
            <a:ext cx="177393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医院配药窗口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3672" y="5907024"/>
            <a:ext cx="32369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药袋上没有药名，只有一个“忘”字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16952" y="5907024"/>
            <a:ext cx="877824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阴司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32520" y="1938528"/>
            <a:ext cx="2798064" cy="4224528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732520" y="1938528"/>
            <a:ext cx="2798064" cy="38100"/>
          </a:xfrm>
          <a:prstGeom prst="rect">
            <a:avLst/>
          </a:prstGeom>
          <a:solidFill>
            <a:srgbClr val="FFC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51976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C94D"/>
                </a:solidFill>
                <a:latin typeface="微软雅黑"/>
              </a:rPr>
              <a:t>使用规则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51976" y="2505456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C94D"/>
                </a:solidFill>
                <a:latin typeface="微软雅黑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26296" y="2505456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EE7DD"/>
                </a:solidFill>
                <a:latin typeface="微软雅黑"/>
              </a:rPr>
              <a:t>一个房间最多用 3 条。用满 6 条不是恐怖，是杂货铺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51976" y="3163824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C94D"/>
                </a:solidFill>
                <a:latin typeface="微软雅黑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26296" y="3163824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EE7DD"/>
                </a:solidFill>
                <a:latin typeface="微软雅黑"/>
              </a:rPr>
              <a:t>同一条在同一章内最多复用 2 次，第三次必须换载体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51976" y="3822192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C94D"/>
                </a:solidFill>
                <a:latin typeface="微软雅黑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26296" y="3822192"/>
            <a:ext cx="2121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EE7DD"/>
                </a:solidFill>
                <a:latin typeface="微软雅黑"/>
              </a:rPr>
              <a:t>每条都要能“遮住即消失”—— 异常必须是可移除的图层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51976" y="4553712"/>
            <a:ext cx="2377440" cy="889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1976" y="4718304"/>
            <a:ext cx="239572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1" i="0">
                <a:solidFill>
                  <a:srgbClr val="3DD6D0"/>
                </a:solidFill>
                <a:latin typeface="微软雅黑"/>
              </a:rPr>
              <a:t>第 3 点是省钱的关键：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底图（城市）一张，异常图层按腐蚀度分 3 档叠加。同一个房间在腐蚀度 1 和 7 下看起来是两个地方，但美术只画了一张底图 + 三组贴花。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03 · 色彩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全局色板：从 L0 实测采样，非估值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每章换色相，不换明度结构。明度结构（暗底 + 极少高光）全局统一 —— 这是画面能一眼认出是同一个游戏的原因。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965960"/>
            <a:ext cx="1243584" cy="841248"/>
          </a:xfrm>
          <a:prstGeom prst="rect">
            <a:avLst/>
          </a:prstGeom>
          <a:solidFill>
            <a:srgbClr val="0B0C17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871216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墨夜蓝 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44952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Consolas"/>
              </a:rPr>
              <a:t>#0B0C17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09544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476"/>
                </a:solidFill>
                <a:latin typeface="微软雅黑"/>
              </a:rPr>
              <a:t>35–45%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8080" y="1965960"/>
            <a:ext cx="1243584" cy="841248"/>
          </a:xfrm>
          <a:prstGeom prst="rect">
            <a:avLst/>
          </a:prstGeom>
          <a:solidFill>
            <a:srgbClr val="131A23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8080" y="2871216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夜青 NIGHT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8080" y="3044952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Consolas"/>
              </a:rPr>
              <a:t>#131A23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8080" y="3209544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476"/>
                </a:solidFill>
                <a:latin typeface="微软雅黑"/>
              </a:rPr>
              <a:t>15–20%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7792" y="1965960"/>
            <a:ext cx="1243584" cy="841248"/>
          </a:xfrm>
          <a:prstGeom prst="rect">
            <a:avLst/>
          </a:prstGeom>
          <a:solidFill>
            <a:srgbClr val="2D3949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7792" y="2871216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钢灰蓝 STEEL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7792" y="3044952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Consolas"/>
              </a:rPr>
              <a:t>#2D3949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7792" y="3209544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476"/>
                </a:solidFill>
                <a:latin typeface="微软雅黑"/>
              </a:rPr>
              <a:t>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37504" y="1965960"/>
            <a:ext cx="1243584" cy="841248"/>
          </a:xfrm>
          <a:prstGeom prst="rect">
            <a:avLst/>
          </a:prstGeom>
          <a:solidFill>
            <a:srgbClr val="3D2B45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7504" y="2871216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靛紫 INDIGO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7504" y="3044952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Consolas"/>
              </a:rPr>
              <a:t>#3D2B45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504" y="3209544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476"/>
                </a:solidFill>
                <a:latin typeface="微软雅黑"/>
              </a:rPr>
              <a:t>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7216" y="1965960"/>
            <a:ext cx="1243584" cy="841248"/>
          </a:xfrm>
          <a:prstGeom prst="rect">
            <a:avLst/>
          </a:prstGeom>
          <a:solidFill>
            <a:srgbClr val="6C4464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7216" y="2871216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幽紫 LILAC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7216" y="3044952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Consolas"/>
              </a:rPr>
              <a:t>#6C4464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7216" y="3209544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476"/>
                </a:solidFill>
                <a:latin typeface="微软雅黑"/>
              </a:rPr>
              <a:t>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56928" y="1965960"/>
            <a:ext cx="1243584" cy="841248"/>
          </a:xfrm>
          <a:prstGeom prst="rect">
            <a:avLst/>
          </a:prstGeom>
          <a:solidFill>
            <a:srgbClr val="EEE7DD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6928" y="2871216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香灰白 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6928" y="3044952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Consolas"/>
              </a:rPr>
              <a:t>#EEE7DD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6928" y="3209544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476"/>
                </a:solidFill>
                <a:latin typeface="微软雅黑"/>
              </a:rPr>
              <a:t>4%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16640" y="1965960"/>
            <a:ext cx="1243584" cy="841248"/>
          </a:xfrm>
          <a:prstGeom prst="rect">
            <a:avLst/>
          </a:prstGeom>
          <a:solidFill>
            <a:srgbClr val="6D0409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16640" y="2871216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朱红 VERMILION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16640" y="3044952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Consolas"/>
              </a:rPr>
              <a:t>#6D0409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16640" y="3209544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476"/>
                </a:solidFill>
                <a:latin typeface="微软雅黑"/>
              </a:rPr>
              <a:t>≤3%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76352" y="1965960"/>
            <a:ext cx="1243584" cy="841248"/>
          </a:xfrm>
          <a:prstGeom prst="rect">
            <a:avLst/>
          </a:prstGeom>
          <a:solidFill>
            <a:srgbClr val="8A2B1C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76352" y="2871216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灯笼橙红 LANTERN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6352" y="3044952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Consolas"/>
              </a:rPr>
              <a:t>#8A2B1C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6352" y="3209544"/>
            <a:ext cx="1243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476"/>
                </a:solidFill>
                <a:latin typeface="微软雅黑"/>
              </a:rPr>
              <a:t>≤3%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16640" y="1965960"/>
            <a:ext cx="1243584" cy="841248"/>
          </a:xfrm>
          <a:prstGeom prst="rect">
            <a:avLst/>
          </a:prstGeom>
          <a:noFill/>
          <a:ln w="22225">
            <a:solidFill>
              <a:srgbClr val="FF3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52958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微软雅黑"/>
              </a:rPr>
              <a:t>分章色板：换色相，不换明度结构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3858768"/>
            <a:ext cx="7863840" cy="676656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39410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EE7DD"/>
                </a:solidFill>
                <a:latin typeface="微软雅黑"/>
              </a:rPr>
              <a:t>第一章 · 地铁 · 黄泉线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224528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C4464"/>
                </a:solidFill>
                <a:latin typeface="微软雅黑"/>
              </a:rPr>
              <a:t>靛蓝 → 紫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35808" y="4014216"/>
            <a:ext cx="365760" cy="365760"/>
          </a:xfrm>
          <a:prstGeom prst="rect">
            <a:avLst/>
          </a:prstGeom>
          <a:solidFill>
            <a:srgbClr val="0B0C17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38144" y="4014216"/>
            <a:ext cx="365760" cy="365760"/>
          </a:xfrm>
          <a:prstGeom prst="rect">
            <a:avLst/>
          </a:prstGeom>
          <a:solidFill>
            <a:srgbClr val="292F4C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0" y="4014216"/>
            <a:ext cx="365760" cy="365760"/>
          </a:xfrm>
          <a:prstGeom prst="rect">
            <a:avLst/>
          </a:prstGeom>
          <a:solidFill>
            <a:srgbClr val="311726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42816" y="4014216"/>
            <a:ext cx="365760" cy="365760"/>
          </a:xfrm>
          <a:prstGeom prst="rect">
            <a:avLst/>
          </a:prstGeom>
          <a:solidFill>
            <a:srgbClr val="5F4E73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45152" y="4014216"/>
            <a:ext cx="365760" cy="365760"/>
          </a:xfrm>
          <a:prstGeom prst="rect">
            <a:avLst/>
          </a:prstGeom>
          <a:solidFill>
            <a:srgbClr val="B19CB8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84648" y="395935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冷白荧光管 + 单点朱红应急灯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04888" y="407822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FFC94D"/>
                </a:solidFill>
                <a:latin typeface="微软雅黑"/>
              </a:rPr>
              <a:t>又冷又空，只有你一个人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" y="4636008"/>
            <a:ext cx="7863840" cy="676656"/>
          </a:xfrm>
          <a:prstGeom prst="rect">
            <a:avLst/>
          </a:prstGeom>
          <a:solidFill>
            <a:srgbClr val="0E13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47183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EE7DD"/>
                </a:solidFill>
                <a:latin typeface="微软雅黑"/>
              </a:rPr>
              <a:t>第二章 · 商场 · 百鬼市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5001768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C4464"/>
                </a:solidFill>
                <a:latin typeface="微软雅黑"/>
              </a:rPr>
              <a:t>暗红褐 → 暖橙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35808" y="4791456"/>
            <a:ext cx="365760" cy="365760"/>
          </a:xfrm>
          <a:prstGeom prst="rect">
            <a:avLst/>
          </a:prstGeom>
          <a:solidFill>
            <a:srgbClr val="181012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38144" y="4791456"/>
            <a:ext cx="365760" cy="365760"/>
          </a:xfrm>
          <a:prstGeom prst="rect">
            <a:avLst/>
          </a:prstGeom>
          <a:solidFill>
            <a:srgbClr val="391A1A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40480" y="4791456"/>
            <a:ext cx="365760" cy="365760"/>
          </a:xfrm>
          <a:prstGeom prst="rect">
            <a:avLst/>
          </a:prstGeom>
          <a:solidFill>
            <a:srgbClr val="563C42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42816" y="4791456"/>
            <a:ext cx="365760" cy="365760"/>
          </a:xfrm>
          <a:prstGeom prst="rect">
            <a:avLst/>
          </a:prstGeom>
          <a:solidFill>
            <a:srgbClr val="836065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45152" y="4791456"/>
            <a:ext cx="365760" cy="365760"/>
          </a:xfrm>
          <a:prstGeom prst="rect">
            <a:avLst/>
          </a:prstGeom>
          <a:solidFill>
            <a:srgbClr val="C3A8AA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84648" y="473659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大量灯笼暖光 + 冷蓝阴影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04888" y="485546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FFC94D"/>
                </a:solidFill>
                <a:latin typeface="微软雅黑"/>
              </a:rPr>
              <a:t>热闹得不正常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" y="5413248"/>
            <a:ext cx="7863840" cy="676656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" y="54955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EE7DD"/>
                </a:solidFill>
                <a:latin typeface="微软雅黑"/>
              </a:rPr>
              <a:t>终章 · 医院 · 阴司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" y="5779008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C4464"/>
                </a:solidFill>
                <a:latin typeface="微软雅黑"/>
              </a:rPr>
              <a:t>青灰 → 冷绿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35808" y="5568696"/>
            <a:ext cx="365760" cy="365760"/>
          </a:xfrm>
          <a:prstGeom prst="rect">
            <a:avLst/>
          </a:prstGeom>
          <a:solidFill>
            <a:srgbClr val="050D13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438144" y="5568696"/>
            <a:ext cx="365760" cy="365760"/>
          </a:xfrm>
          <a:prstGeom prst="rect">
            <a:avLst/>
          </a:prstGeom>
          <a:solidFill>
            <a:srgbClr val="0B1E28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40480" y="5568696"/>
            <a:ext cx="365760" cy="365760"/>
          </a:xfrm>
          <a:prstGeom prst="rect">
            <a:avLst/>
          </a:prstGeom>
          <a:solidFill>
            <a:srgbClr val="263B48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42816" y="5568696"/>
            <a:ext cx="365760" cy="365760"/>
          </a:xfrm>
          <a:prstGeom prst="rect">
            <a:avLst/>
          </a:prstGeom>
          <a:solidFill>
            <a:srgbClr val="415D6F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645152" y="5568696"/>
            <a:ext cx="365760" cy="365760"/>
          </a:xfrm>
          <a:prstGeom prst="rect">
            <a:avLst/>
          </a:prstGeom>
          <a:solidFill>
            <a:srgbClr val="88A4B4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84648" y="5513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全冷光、无暖色、无阴影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04888" y="563270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FFC94D"/>
                </a:solidFill>
                <a:latin typeface="微软雅黑"/>
              </a:rPr>
              <a:t>干净、明亮、没有一点人味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732520" y="1965960"/>
            <a:ext cx="2798064" cy="2121408"/>
          </a:xfrm>
          <a:prstGeom prst="rect">
            <a:avLst/>
          </a:prstGeom>
          <a:solidFill>
            <a:srgbClr val="1E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732520" y="1965960"/>
            <a:ext cx="2798064" cy="38100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33688" y="2157984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3B30"/>
                </a:solidFill>
                <a:latin typeface="微软雅黑"/>
              </a:rPr>
              <a:t>朱红 3% 上限是硬约束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933688" y="2505456"/>
            <a:ext cx="2432304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L0 里红看起来很多，因为它是一张宣传图（红在小图里抓眼）。实际场景里红一旦超过 5%，两件事同时发生：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① 恐怖感变成廉价的血腥感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② 红作为“伤害 / 危险”的 UI 功能色彻底失效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32520" y="4261104"/>
            <a:ext cx="2798064" cy="1901952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32520" y="4261104"/>
            <a:ext cx="2798064" cy="38100"/>
          </a:xfrm>
          <a:prstGeom prst="rect">
            <a:avLst/>
          </a:prstGeom>
          <a:solidFill>
            <a:srgbClr val="3D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933688" y="4443984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3DD6D0"/>
                </a:solidFill>
                <a:latin typeface="微软雅黑"/>
              </a:rPr>
              <a:t>终章的反差设计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33688" y="4773168"/>
            <a:ext cx="24323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前两章靠“暗”制造恐怖，终章靠“太亮太干净”。医院是唯一照明充足、几乎没有暗部、完全禁用暖色的章节。玩家在前 6 层学会“暗处有东西”，第三章突然没有暗处，反而更慌 —— 且不加一分资产量。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03 · 色彩 · 可读性地基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必须先解决的冲突：红色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本项目的氛围色是朱红（灯笼、符纸、安全线），而战棋的危险色也是红（伤害、敌方、非法落点）。二者同屏必然干扰。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11680"/>
            <a:ext cx="5257800" cy="2286000"/>
          </a:xfrm>
          <a:prstGeom prst="rect">
            <a:avLst/>
          </a:prstGeom>
          <a:solidFill>
            <a:srgbClr val="140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011680"/>
            <a:ext cx="5257800" cy="3810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128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8A2B1C"/>
                </a:solidFill>
                <a:latin typeface="微软雅黑"/>
              </a:rPr>
              <a:t>场景红 · 装饰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578608"/>
            <a:ext cx="1371600" cy="914400"/>
          </a:xfrm>
          <a:prstGeom prst="rect">
            <a:avLst/>
          </a:prstGeom>
          <a:solidFill>
            <a:srgbClr val="6D0409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41448" y="263347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Consolas"/>
              </a:rPr>
              <a:t>#6D0409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色相 357°  ·  饱和 96%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50" b="1" i="0">
                <a:solidFill>
                  <a:srgbClr val="FFC94D"/>
                </a:solidFill>
                <a:latin typeface="微软雅黑"/>
              </a:rPr>
              <a:t>明度 43%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压暗、不动的红 = 装饰。灯笼、符纸、安全线、朱批。场景红明度上限 45%。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462272"/>
            <a:ext cx="5257800" cy="170078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4462272"/>
            <a:ext cx="5257800" cy="38100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451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3B30"/>
                </a:solidFill>
                <a:latin typeface="微软雅黑"/>
              </a:rPr>
              <a:t>UI 红 · 威胁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992624"/>
            <a:ext cx="1371600" cy="640080"/>
          </a:xfrm>
          <a:prstGeom prst="rect">
            <a:avLst/>
          </a:prstGeom>
          <a:solidFill>
            <a:srgbClr val="FF3B30"/>
          </a:solidFill>
          <a:ln w="12700">
            <a:solidFill>
              <a:srgbClr val="2C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41448" y="4974336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Consolas"/>
              </a:rPr>
              <a:t>#FF3B30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色相 3°  ·  饱和 81%  ·  </a:t>
            </a:r>
            <a:r>
              <a:rPr sz="1150" b="1" i="0">
                <a:solidFill>
                  <a:srgbClr val="FFC94D"/>
                </a:solidFill>
                <a:latin typeface="微软雅黑"/>
              </a:rPr>
              <a:t>明度 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742432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明亮、会动的红 = 威胁。伤害、敌方、非法落点、危害格。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011680"/>
            <a:ext cx="52120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两者色相几乎相同，饱和度也都很高 —— 唯一的分野是“暗 vs 亮”。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所以给外包的指令必须是「场景红要压暗（V≤45%），UI 红要拉亮（V=100%）」，不是「场景红要降饱和」。降饱和只会得到发灰的脏红，既不好看，也依然会与 UI 红混淆。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054096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微软雅黑"/>
              </a:rPr>
              <a:t>功能色（UI 专用，任何场景不得占用）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401568"/>
            <a:ext cx="310896" cy="292608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984" y="34472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Consolas"/>
              </a:rPr>
              <a:t>FN_DANGER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344728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Consolas"/>
              </a:rPr>
              <a:t>#FF3B30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344728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伤害 / 危险 / 敌方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785616"/>
            <a:ext cx="310896" cy="292608"/>
          </a:xfrm>
          <a:prstGeom prst="rect">
            <a:avLst/>
          </a:prstGeom>
          <a:solidFill>
            <a:srgbClr val="3D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9984" y="38313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Consolas"/>
              </a:rPr>
              <a:t>FN_ALLY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3831336"/>
            <a:ext cx="868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Consolas"/>
              </a:rPr>
              <a:t>#3DD6D0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831336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可移动 / 己方 / 合法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169664"/>
            <a:ext cx="310896" cy="292608"/>
          </a:xfrm>
          <a:prstGeom prst="rect">
            <a:avLst/>
          </a:prstGeom>
          <a:solidFill>
            <a:srgbClr val="7FA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9984" y="421538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Consolas"/>
              </a:rPr>
              <a:t>FN_BLOCK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4215384"/>
            <a:ext cx="868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Consolas"/>
              </a:rPr>
              <a:t>#7FA8D9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421538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格挡 / 防御（仅数值与图标）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553712"/>
            <a:ext cx="310896" cy="292608"/>
          </a:xfrm>
          <a:prstGeom prst="rect">
            <a:avLst/>
          </a:prstGeom>
          <a:solidFill>
            <a:srgbClr val="FFC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9984" y="459943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Consolas"/>
              </a:rPr>
              <a:t>FN_GOLD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4599432"/>
            <a:ext cx="868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Consolas"/>
              </a:rPr>
              <a:t>#FFC94D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4599432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暴击 / 稀有 / 奖励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4937760"/>
            <a:ext cx="310896" cy="292608"/>
          </a:xfrm>
          <a:prstGeom prst="rect">
            <a:avLst/>
          </a:prstGeom>
          <a:solidFill>
            <a:srgbClr val="B47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29984" y="49834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Consolas"/>
              </a:rPr>
              <a:t>FN_RUNE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4983480"/>
            <a:ext cx="868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Consolas"/>
              </a:rPr>
              <a:t>#B47FE8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6840" y="4983480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符文 / 规则改写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5321808"/>
            <a:ext cx="310896" cy="292608"/>
          </a:xfrm>
          <a:prstGeom prst="rect">
            <a:avLst/>
          </a:prstGeom>
          <a:solidFill>
            <a:srgbClr val="6ED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4" y="53675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Consolas"/>
              </a:rPr>
              <a:t>FN_HEAL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2440" y="5367528"/>
            <a:ext cx="868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Consolas"/>
              </a:rPr>
              <a:t>#6ED89A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536752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治疗（仅数值与图标）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5760720"/>
            <a:ext cx="5212080" cy="402336"/>
          </a:xfrm>
          <a:prstGeom prst="rect">
            <a:avLst/>
          </a:prstGeom>
          <a:solidFill>
            <a:srgbClr val="0A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9360" y="5760720"/>
            <a:ext cx="38100" cy="402336"/>
          </a:xfrm>
          <a:prstGeom prst="rect">
            <a:avLst/>
          </a:prstGeom>
          <a:solidFill>
            <a:srgbClr val="3D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58521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地面高亮层只允许两色：</a:t>
            </a:r>
            <a:r>
              <a:rPr sz="1150" b="1" i="0">
                <a:solidFill>
                  <a:srgbClr val="3DD6D0"/>
                </a:solidFill>
                <a:latin typeface="微软雅黑"/>
              </a:rPr>
              <a:t>青蓝 = 合法/己方</a:t>
            </a:r>
            <a:r>
              <a:rPr sz="1150" b="0" i="0">
                <a:solidFill>
                  <a:srgbClr val="5B6476"/>
                </a:solidFill>
                <a:latin typeface="微软雅黑"/>
              </a:rPr>
              <a:t> · </a:t>
            </a:r>
            <a:r>
              <a:rPr sz="1150" b="1" i="0">
                <a:solidFill>
                  <a:srgbClr val="FF3B30"/>
                </a:solidFill>
                <a:latin typeface="微软雅黑"/>
              </a:rPr>
              <a:t>亮红 = 危险/非法</a:t>
            </a:r>
            <a:r>
              <a:rPr sz="1150" b="0" i="0">
                <a:solidFill>
                  <a:srgbClr val="8A93A6"/>
                </a:solidFill>
                <a:latin typeface="微软雅黑"/>
              </a:rPr>
              <a:t>。其余功能色只上 UI。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160520"/>
            <a:ext cx="12191695" cy="269748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4663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g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10515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6C4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1089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6C4464"/>
                </a:solidFill>
                <a:latin typeface="微软雅黑"/>
              </a:rPr>
              <a:t>04 · 场景 · 第一章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30352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EE7DD"/>
                </a:solidFill>
                <a:latin typeface="微软雅黑"/>
              </a:rPr>
              <a:t>地铁 · 黄泉线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603504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6C4464"/>
                </a:solidFill>
                <a:latin typeface="微软雅黑"/>
              </a:rPr>
              <a:t>「通往未知的末班车，永远到不了终点。」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C94D"/>
                </a:solidFill>
                <a:latin typeface="微软雅黑"/>
              </a:rPr>
              <a:t>一句话美术目标：</a:t>
            </a:r>
            <a:r>
              <a:rPr sz="1300" b="0" i="0">
                <a:solidFill>
                  <a:srgbClr val="EEE7DD"/>
                </a:solidFill>
                <a:latin typeface="微软雅黑"/>
              </a:rPr>
              <a:t>拍一张真实的凌晨三点地铁站照片，然后只改三样东西。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828032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93A6"/>
                </a:solidFill>
                <a:latin typeface="微软雅黑"/>
              </a:rPr>
              <a:t>P0 异常元素（每战场取 2–3 条，至少 1 条 P0）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13892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6C4464"/>
                </a:solidFill>
                <a:latin typeface="微软雅黑"/>
              </a:rPr>
              <a:t>站名牌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" y="513892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站名逐层变成生僻字，终章层空白；拼音始终正常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4132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6C4464"/>
                </a:solidFill>
                <a:latin typeface="微软雅黑"/>
              </a:rPr>
              <a:t>线路图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3664" y="541324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线是闭环，没有终点站；末端站点朱红圆点正在渗色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68756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6C4464"/>
                </a:solidFill>
                <a:latin typeface="微软雅黑"/>
              </a:rPr>
              <a:t>地面安全线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" y="568756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黄线变朱红，线内侧是旧式青砖（两个年代的地面拼在一起）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96188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6C4464"/>
                </a:solidFill>
                <a:latin typeface="微软雅黑"/>
              </a:rPr>
              <a:t>应急指示灯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" y="59618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所有箭头指同一方向，且指向隧道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23620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6C4464"/>
                </a:solidFill>
                <a:latin typeface="微软雅黑"/>
              </a:rPr>
              <a:t>乘客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83664" y="623620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无脸；影子方向与光源不符；低头看灭屏的手机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3708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93A6"/>
                </a:solidFill>
                <a:latin typeface="微软雅黑"/>
              </a:rPr>
              <a:t>空间类型 → 体型系统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68172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微软雅黑"/>
              </a:rPr>
              <a:t>站台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855464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开阔长条，6 格 Boss 主战场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50657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C94D"/>
                </a:solidFill>
                <a:latin typeface="微软雅黑"/>
              </a:rPr>
              <a:t>车厢内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23951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狭长单行道 ⭐ 巨人的舞台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544982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微软雅黑"/>
              </a:rPr>
              <a:t>隧道 / 检修通道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6235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窄 + 分叉，视线阻断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83387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微软雅黑"/>
              </a:rPr>
              <a:t>闸机厅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6007608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闸机 = 可破坏掩体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5400" y="4315968"/>
            <a:ext cx="2615184" cy="1783080"/>
          </a:xfrm>
          <a:prstGeom prst="rect">
            <a:avLst/>
          </a:prstGeom>
          <a:solidFill>
            <a:srgbClr val="10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15400" y="4315968"/>
            <a:ext cx="2615184" cy="31750"/>
          </a:xfrm>
          <a:prstGeom prst="rect">
            <a:avLst/>
          </a:prstGeom>
          <a:solidFill>
            <a:srgbClr val="6C4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44805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6C4464"/>
                </a:solidFill>
                <a:latin typeface="微软雅黑"/>
              </a:rPr>
              <a:t>Tile 集需求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773168"/>
            <a:ext cx="2286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1" i="0">
                <a:solidFill>
                  <a:srgbClr val="EEE7DD"/>
                </a:solidFill>
                <a:latin typeface="微软雅黑"/>
              </a:rPr>
              <a:t>约 7 种地形 tile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地砖（干/湿）· 盲道 · 站台边缘+朱红线 · 车厢地板 · 轨道 · 格栅 · 楼梯口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1" i="0">
                <a:solidFill>
                  <a:srgbClr val="FF3B30"/>
                </a:solidFill>
                <a:latin typeface="微软雅黑"/>
              </a:rPr>
              <a:t>+ 3 种危害 tile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轨道 / 漏电 / 裂缝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46634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4663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g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10515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8A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1089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04 · 场景 · 第二章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30352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EE7DD"/>
                </a:solidFill>
                <a:latin typeface="微软雅黑"/>
              </a:rPr>
              <a:t>商场 · 百鬼市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603504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50" b="0" i="0">
                <a:solidFill>
                  <a:srgbClr val="8A2B1C"/>
                </a:solidFill>
                <a:latin typeface="微软雅黑"/>
              </a:rPr>
              <a:t>「凌晨三点营业的商场，售卖着非人的商品。」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90288"/>
            <a:ext cx="53949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1" i="0">
                <a:solidFill>
                  <a:srgbClr val="EEE7DD"/>
                </a:solidFill>
                <a:latin typeface="微软雅黑"/>
              </a:rPr>
              <a:t>第一章是“空得不对”，第二章是“热闹得不对”。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8A93A6"/>
                </a:solidFill>
                <a:latin typeface="微软雅黑"/>
              </a:rPr>
              <a:t>灯全亮、音乐在放、店都开着，但客人不是人。全游戏视觉密度最高的一章。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9379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93A6"/>
                </a:solidFill>
                <a:latin typeface="微软雅黑"/>
              </a:rPr>
              <a:t>P0 异常元素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48640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2B1C"/>
                </a:solidFill>
                <a:latin typeface="微软雅黑"/>
              </a:rPr>
              <a:t>楼层索引牌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" y="5486400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出现 -1F 阴货、4F、13F；楼层数不连续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42432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2B1C"/>
                </a:solidFill>
                <a:latin typeface="微软雅黑"/>
              </a:rPr>
              <a:t>扶梯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3664" y="5742432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只上不下；或两条都在上升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998464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2B1C"/>
                </a:solidFill>
                <a:latin typeface="微软雅黑"/>
              </a:rPr>
              <a:t>店员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" y="5998464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纸人：纸扎竹骨穿着正确制服，工号写在符纸上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254496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2B1C"/>
                </a:solidFill>
                <a:latin typeface="微软雅黑"/>
              </a:rPr>
              <a:t>家电区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" y="6254496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纸糊的冰箱电视，带正常品牌 logo（材质错位代表作）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51052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8A2B1C"/>
                </a:solidFill>
                <a:latin typeface="微软雅黑"/>
              </a:rPr>
              <a:t>价签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83664" y="6510528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单位是“年”；促销写“买一送一，寿限自理”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35424"/>
            <a:ext cx="2286000" cy="1737360"/>
          </a:xfrm>
          <a:prstGeom prst="rect">
            <a:avLst/>
          </a:prstGeom>
          <a:solidFill>
            <a:srgbClr val="1A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4535424"/>
            <a:ext cx="2286000" cy="31750"/>
          </a:xfrm>
          <a:prstGeom prst="rect">
            <a:avLst/>
          </a:prstGeom>
          <a:solidFill>
            <a:srgbClr val="FFC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70001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C94D"/>
                </a:solidFill>
                <a:latin typeface="微软雅黑"/>
              </a:rPr>
              <a:t>复用红利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992624"/>
            <a:ext cx="195681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货架 · 模特 · 桌椅 · 吊灯笼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四类 prop 组合出全部店铺。店铺的区别靠贴图与 prop 组合，不靠新建资产。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4535424"/>
            <a:ext cx="2523744" cy="1737360"/>
          </a:xfrm>
          <a:prstGeom prst="rect">
            <a:avLst/>
          </a:prstGeom>
          <a:solidFill>
            <a:srgbClr val="1A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06840" y="4535424"/>
            <a:ext cx="2523744" cy="31750"/>
          </a:xfrm>
          <a:prstGeom prst="rect">
            <a:avLst/>
          </a:prstGeom>
          <a:solidFill>
            <a:srgbClr val="8A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47000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空间与机制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992624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中庭</a:t>
            </a:r>
            <a:r>
              <a:rPr sz="1050" b="0" i="0">
                <a:solidFill>
                  <a:srgbClr val="8A93A6"/>
                </a:solidFill>
                <a:latin typeface="微软雅黑"/>
              </a:rPr>
              <a:t> 6 格 Boss 主场、纵深最强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扶梯 / 天井边缘</a:t>
            </a:r>
            <a:r>
              <a:rPr sz="1050" b="0" i="0">
                <a:solidFill>
                  <a:srgbClr val="8A93A6"/>
                </a:solidFill>
                <a:latin typeface="微软雅黑"/>
              </a:rPr>
              <a:t> ⭐ 推拉机制的舞台：把敌人推下天井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后场通道</a:t>
            </a:r>
            <a:r>
              <a:rPr sz="1050" b="0" i="0">
                <a:solidFill>
                  <a:srgbClr val="8A93A6"/>
                </a:solidFill>
                <a:latin typeface="微软雅黑"/>
              </a:rPr>
              <a:t> 冷光、无装饰 —— “后台没有伪装”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04 · 场景 · 终章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终章 · 医院 · 阴司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「白天是医院，夜晚是阴间的入口。」唯一一个明亮、干净、没有暗部的章节 —— 恐怖来自“过于正常”。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29968"/>
            <a:ext cx="5166360" cy="694944"/>
          </a:xfrm>
          <a:prstGeom prst="rect">
            <a:avLst/>
          </a:prstGeom>
          <a:solidFill>
            <a:srgbClr val="0B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029968"/>
            <a:ext cx="31750" cy="694944"/>
          </a:xfrm>
          <a:prstGeom prst="rect">
            <a:avLst/>
          </a:prstGeom>
          <a:solidFill>
            <a:srgbClr val="88A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1214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88A4B4"/>
                </a:solidFill>
                <a:latin typeface="微软雅黑"/>
              </a:rPr>
              <a:t>照明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5648" y="212140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全冷白荧光，均匀铺满，几乎没有阴影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029968"/>
            <a:ext cx="5166360" cy="694944"/>
          </a:xfrm>
          <a:prstGeom prst="rect">
            <a:avLst/>
          </a:prstGeom>
          <a:solidFill>
            <a:srgbClr val="0B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2029968"/>
            <a:ext cx="31750" cy="694944"/>
          </a:xfrm>
          <a:prstGeom prst="rect">
            <a:avLst/>
          </a:prstGeom>
          <a:solidFill>
            <a:srgbClr val="88A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21214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88A4B4"/>
                </a:solidFill>
                <a:latin typeface="微软雅黑"/>
              </a:rPr>
              <a:t>暖色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7768" y="212140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完全禁用。没有灯笼、没有朱红灯；唯一的红是朱批与“急”字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71216"/>
            <a:ext cx="5166360" cy="694944"/>
          </a:xfrm>
          <a:prstGeom prst="rect">
            <a:avLst/>
          </a:prstGeom>
          <a:solidFill>
            <a:srgbClr val="0B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2871216"/>
            <a:ext cx="31750" cy="694944"/>
          </a:xfrm>
          <a:prstGeom prst="rect">
            <a:avLst/>
          </a:prstGeom>
          <a:solidFill>
            <a:srgbClr val="88A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29626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88A4B4"/>
                </a:solidFill>
                <a:latin typeface="微软雅黑"/>
              </a:rPr>
              <a:t>材质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296265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全新、无垢、反光。走廊地板刚打过蜡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0488" y="2871216"/>
            <a:ext cx="5166360" cy="694944"/>
          </a:xfrm>
          <a:prstGeom prst="rect">
            <a:avLst/>
          </a:prstGeom>
          <a:solidFill>
            <a:srgbClr val="0B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2871216"/>
            <a:ext cx="31750" cy="694944"/>
          </a:xfrm>
          <a:prstGeom prst="rect">
            <a:avLst/>
          </a:prstGeom>
          <a:solidFill>
            <a:srgbClr val="88A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9944" y="29626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88A4B4"/>
                </a:solidFill>
                <a:latin typeface="微软雅黑"/>
              </a:rPr>
              <a:t>异常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296265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微软雅黑"/>
              </a:rPr>
              <a:t>更少、更精准（每战场 1–2 条），且全部是文字与数字的错误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8587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微软雅黑"/>
              </a:rPr>
              <a:t>关键视觉元素：全部是文字与数字的错误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224528"/>
            <a:ext cx="2542032" cy="621792"/>
          </a:xfrm>
          <a:prstGeom prst="rect">
            <a:avLst/>
          </a:prstGeom>
          <a:solidFill>
            <a:srgbClr val="09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29768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叫号屏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54456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在叫还没出生的号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4224528"/>
            <a:ext cx="2542032" cy="621792"/>
          </a:xfrm>
          <a:prstGeom prst="rect">
            <a:avLst/>
          </a:prstGeom>
          <a:solidFill>
            <a:srgbClr val="09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29584" y="429768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床位牌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9584" y="454456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入院与“回家”是同一天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4224528"/>
            <a:ext cx="2542032" cy="621792"/>
          </a:xfrm>
          <a:prstGeom prst="rect">
            <a:avLst/>
          </a:prstGeom>
          <a:solidFill>
            <a:srgbClr val="09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429768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药袋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96" y="454456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无药名，只有一个“忘”字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33104" y="4224528"/>
            <a:ext cx="2542032" cy="621792"/>
          </a:xfrm>
          <a:prstGeom prst="rect">
            <a:avLst/>
          </a:prstGeom>
          <a:solidFill>
            <a:srgbClr val="09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9408" y="429768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病历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79408" y="454456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朱批字迹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974336"/>
            <a:ext cx="2542032" cy="621792"/>
          </a:xfrm>
          <a:prstGeom prst="rect">
            <a:avLst/>
          </a:prstGeom>
          <a:solidFill>
            <a:srgbClr val="09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" y="504748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太平间推床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" y="5294376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停在走廊中央，被单下有形状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83280" y="4974336"/>
            <a:ext cx="2542032" cy="621792"/>
          </a:xfrm>
          <a:prstGeom prst="rect">
            <a:avLst/>
          </a:prstGeom>
          <a:solidFill>
            <a:srgbClr val="09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9584" y="504748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候诊椅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9584" y="5294376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坐满，全部低头，没有一个抬头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4974336"/>
            <a:ext cx="2542032" cy="621792"/>
          </a:xfrm>
          <a:prstGeom prst="rect">
            <a:avLst/>
          </a:prstGeom>
          <a:solidFill>
            <a:srgbClr val="09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54496" y="504748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消防疏散图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4496" y="5294376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图上的楼层平面不是这一层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5724144"/>
            <a:ext cx="10874959" cy="457200"/>
          </a:xfrm>
          <a:prstGeom prst="rect">
            <a:avLst/>
          </a:prstGeom>
          <a:solidFill>
            <a:srgbClr val="0B1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8368" y="5724144"/>
            <a:ext cx="38100" cy="457200"/>
          </a:xfrm>
          <a:prstGeom prst="rect">
            <a:avLst/>
          </a:prstGeom>
          <a:solidFill>
            <a:srgbClr val="3D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7824" y="5815584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3DD6D0"/>
                </a:solidFill>
                <a:latin typeface="微软雅黑"/>
              </a:rPr>
              <a:t>资产量最省的一章</a:t>
            </a:r>
            <a:r>
              <a:rPr sz="1200" b="0" i="0">
                <a:solidFill>
                  <a:srgbClr val="8A93A6"/>
                </a:solidFill>
                <a:latin typeface="微软雅黑"/>
              </a:rPr>
              <a:t>（约 5 种 tile + 2 种危害）—— 干净 = 细节少。这也是把终章放在最后的另一个理由：排期最紧的时候做资产量最小的一章。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05 · 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四职业：现代身份 × 传统力量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每个角色都必须一眼看出“是现代人”。传统力量必须表现为“外挂”而非“自带”—— 符纸是贴上去的、法器是拿在手里的、印记是画上去的。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pic>
        <p:nvPicPr>
          <p:cNvPr id="9" name="Picture 8" descr="img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01952"/>
            <a:ext cx="10872216" cy="239572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1901952"/>
            <a:ext cx="10872216" cy="2395728"/>
          </a:xfrm>
          <a:prstGeom prst="rect">
            <a:avLst/>
          </a:prstGeom>
          <a:noFill/>
          <a:ln w="12700">
            <a:solidFill>
              <a:srgbClr val="262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4498848"/>
            <a:ext cx="2560320" cy="1664208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498848"/>
            <a:ext cx="2560320" cy="3810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6268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EE7DD"/>
                </a:solidFill>
                <a:latin typeface="微软雅黑"/>
              </a:rPr>
              <a:t>镇邪者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93776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D0409"/>
                </a:solidFill>
                <a:latin typeface="微软雅黑"/>
              </a:rPr>
              <a:t>骑士 · 1 格 · 坦克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1755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异常事件处理员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41324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C94D"/>
                </a:solidFill>
                <a:latin typeface="Consolas"/>
              </a:rPr>
              <a:t>现代 70 / 传统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650992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微软雅黑"/>
              </a:rPr>
              <a:t>战术背心 + 防爆盾（盾面是符板）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4498848"/>
            <a:ext cx="2560320" cy="1664208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4498848"/>
            <a:ext cx="2560320" cy="38100"/>
          </a:xfrm>
          <a:prstGeom prst="rect">
            <a:avLst/>
          </a:prstGeom>
          <a:solidFill>
            <a:srgbClr val="2A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84448" y="46268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EE7DD"/>
                </a:solidFill>
                <a:latin typeface="微软雅黑"/>
              </a:rPr>
              <a:t>方士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493776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FA8D9"/>
                </a:solidFill>
                <a:latin typeface="微软雅黑"/>
              </a:rPr>
              <a:t>法师 · 1 格 · 组合技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4448" y="51755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民俗研究员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4448" y="541324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C94D"/>
                </a:solidFill>
                <a:latin typeface="Consolas"/>
              </a:rPr>
              <a:t>现代 60 / 传统 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84448" y="5650992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微软雅黑"/>
              </a:rPr>
              <a:t>白大褂 / 风衣 + 罗盘 · 线装书 · 符笔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4498848"/>
            <a:ext cx="2560320" cy="1664208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4498848"/>
            <a:ext cx="2560320" cy="38100"/>
          </a:xfrm>
          <a:prstGeom prst="rect">
            <a:avLst/>
          </a:prstGeom>
          <a:solidFill>
            <a:srgbClr val="6C4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7648" y="46268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EE7DD"/>
                </a:solidFill>
                <a:latin typeface="微软雅黑"/>
              </a:rPr>
              <a:t>御灵者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493776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6C4464"/>
                </a:solidFill>
                <a:latin typeface="微软雅黑"/>
              </a:rPr>
              <a:t>弓箭手 · 1 格 · 风筝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51755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灵异调查者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541324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C94D"/>
                </a:solidFill>
                <a:latin typeface="Consolas"/>
              </a:rPr>
              <a:t>现代 80 / 传统 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5650992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微软雅黑"/>
              </a:rPr>
              <a:t>手机 / 相机（当作法器）· 耳机 · 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87968" y="4498848"/>
            <a:ext cx="2560320" cy="1664208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87968" y="4498848"/>
            <a:ext cx="2560320" cy="38100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70848" y="46268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EE7DD"/>
                </a:solidFill>
                <a:latin typeface="微软雅黑"/>
              </a:rPr>
              <a:t>妖化者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0848" y="493776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3B30"/>
                </a:solidFill>
                <a:latin typeface="微软雅黑"/>
              </a:rPr>
              <a:t>巨人 · 3 格 · 地形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0848" y="51755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异常感染者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70848" y="5413248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C94D"/>
                </a:solidFill>
                <a:latin typeface="Consolas"/>
              </a:rPr>
              <a:t>现代 40 / 传统 60 · 非人 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5650992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微软雅黑"/>
              </a:rPr>
              <a:t>破损的现代衣物 · 已经不是人的肢体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6309360"/>
            <a:ext cx="10874959" cy="889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638251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3B30"/>
                </a:solidFill>
                <a:latin typeface="微软雅黑"/>
              </a:rPr>
              <a:t>妖化者是唯一允许使用高饱和红的角色</a:t>
            </a:r>
            <a:r>
              <a:rPr sz="1100" b="0" i="0">
                <a:solidFill>
                  <a:srgbClr val="8A93A6"/>
                </a:solidFill>
                <a:latin typeface="微软雅黑"/>
              </a:rPr>
              <a:t>，因为他本身就是“危险”。这是有意设计：玩家操作他时会持续感到不安。也是唯一 3 格体型的玩家角色 —— 视觉上必须是“身体正在向外蔓延”，不是“一个很胖的人”。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05 · 角色 · 现有资产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角色设定图：四职业已完成 L1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三视图 / 武器法器 / 配饰 / 剪影方案齐备。可直接进入 sprite 拆分与骨骼动画阶段（A3：2D 手绘 sprite）。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pic>
        <p:nvPicPr>
          <p:cNvPr id="9" name="Picture 8" descr="img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38528"/>
            <a:ext cx="5166360" cy="19933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1938528"/>
            <a:ext cx="5166360" cy="1993392"/>
          </a:xfrm>
          <a:prstGeom prst="rect">
            <a:avLst/>
          </a:prstGeom>
          <a:noFill/>
          <a:ln w="12700">
            <a:solidFill>
              <a:srgbClr val="262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529584"/>
            <a:ext cx="2377440" cy="402336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529584"/>
            <a:ext cx="31750" cy="402336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5844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EE7DD"/>
                </a:solidFill>
                <a:latin typeface="微软雅黑"/>
              </a:rPr>
              <a:t>镇邪者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6210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微软雅黑"/>
              </a:rPr>
              <a:t>以人之力，镇压妖邪</a:t>
            </a:r>
          </a:p>
        </p:txBody>
      </p:sp>
      <p:pic>
        <p:nvPicPr>
          <p:cNvPr id="15" name="Picture 14" descr="img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938528"/>
            <a:ext cx="5166360" cy="199339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190488" y="1938528"/>
            <a:ext cx="5166360" cy="1993392"/>
          </a:xfrm>
          <a:prstGeom prst="rect">
            <a:avLst/>
          </a:prstGeom>
          <a:noFill/>
          <a:ln w="12700">
            <a:solidFill>
              <a:srgbClr val="262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3529584"/>
            <a:ext cx="2377440" cy="402336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529584"/>
            <a:ext cx="31750" cy="402336"/>
          </a:xfrm>
          <a:prstGeom prst="rect">
            <a:avLst/>
          </a:prstGeom>
          <a:solidFill>
            <a:srgbClr val="2A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35844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EE7DD"/>
                </a:solidFill>
                <a:latin typeface="微软雅黑"/>
              </a:rPr>
              <a:t>方士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96328" y="36210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微软雅黑"/>
              </a:rPr>
              <a:t>以术法，改写规则</a:t>
            </a:r>
          </a:p>
        </p:txBody>
      </p:sp>
      <p:pic>
        <p:nvPicPr>
          <p:cNvPr id="21" name="Picture 20" descr="img0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51376"/>
            <a:ext cx="5166360" cy="199339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58368" y="4151376"/>
            <a:ext cx="5166360" cy="1993392"/>
          </a:xfrm>
          <a:prstGeom prst="rect">
            <a:avLst/>
          </a:prstGeom>
          <a:noFill/>
          <a:ln w="12700">
            <a:solidFill>
              <a:srgbClr val="262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5742432"/>
            <a:ext cx="2377440" cy="402336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742432"/>
            <a:ext cx="31750" cy="402336"/>
          </a:xfrm>
          <a:prstGeom prst="rect">
            <a:avLst/>
          </a:prstGeom>
          <a:solidFill>
            <a:srgbClr val="6C4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57972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EE7DD"/>
                </a:solidFill>
                <a:latin typeface="微软雅黑"/>
              </a:rPr>
              <a:t>御灵者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4208" y="583387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微软雅黑"/>
              </a:rPr>
              <a:t>以怪谈，为己所用</a:t>
            </a:r>
          </a:p>
        </p:txBody>
      </p:sp>
      <p:pic>
        <p:nvPicPr>
          <p:cNvPr id="27" name="Picture 26" descr="img0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4151376"/>
            <a:ext cx="5166360" cy="1993392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190488" y="4151376"/>
            <a:ext cx="5166360" cy="1993392"/>
          </a:xfrm>
          <a:prstGeom prst="rect">
            <a:avLst/>
          </a:prstGeom>
          <a:noFill/>
          <a:ln w="12700">
            <a:solidFill>
              <a:srgbClr val="262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0488" y="5742432"/>
            <a:ext cx="2377440" cy="402336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0488" y="5742432"/>
            <a:ext cx="31750" cy="402336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57972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EE7DD"/>
                </a:solidFill>
                <a:latin typeface="微软雅黑"/>
              </a:rPr>
              <a:t>妖化者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96328" y="583387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A93A6"/>
                </a:solidFill>
                <a:latin typeface="微软雅黑"/>
              </a:rPr>
              <a:t>以自身，化为妖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05 · 怪物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体型系统的视觉承载：1 / 3 / 6 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体型系统若不可读，玩家会一直误判“我能不能走进去”。剪影语言必须随体型改变 —— 3 格不能是“放大的人形”。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965960"/>
            <a:ext cx="3456432" cy="228600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965960"/>
            <a:ext cx="3456432" cy="38100"/>
          </a:xfrm>
          <a:prstGeom prst="rect">
            <a:avLst/>
          </a:prstGeom>
          <a:solidFill>
            <a:srgbClr val="3D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13969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3DD6D0"/>
                </a:solidFill>
                <a:latin typeface="微软雅黑"/>
              </a:rPr>
              <a:t>1 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22311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Consolas"/>
              </a:rPr>
              <a:t>高 ≈1.6 格</a:t>
            </a:r>
          </a:p>
        </p:txBody>
      </p:sp>
      <p:sp>
        <p:nvSpPr>
          <p:cNvPr id="13" name="Hexagon 12"/>
          <p:cNvSpPr/>
          <p:nvPr/>
        </p:nvSpPr>
        <p:spPr>
          <a:xfrm rot="5400000">
            <a:off x="969264" y="2832346"/>
            <a:ext cx="384048" cy="443460"/>
          </a:xfrm>
          <a:prstGeom prst="hexagon">
            <a:avLst/>
          </a:prstGeom>
          <a:noFill/>
          <a:ln w="19050">
            <a:solidFill>
              <a:srgbClr val="3D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95728" y="2670048"/>
            <a:ext cx="1572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直立人形，竖向剪影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675887"/>
            <a:ext cx="3054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与玩家角色同尺度，一眼是“人”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4255" y="1965960"/>
            <a:ext cx="3456432" cy="228600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5" y="1965960"/>
            <a:ext cx="3456432" cy="38100"/>
          </a:xfrm>
          <a:prstGeom prst="rect">
            <a:avLst/>
          </a:prstGeom>
          <a:solidFill>
            <a:srgbClr val="FFC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1" y="213969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C94D"/>
                </a:solidFill>
                <a:latin typeface="微软雅黑"/>
              </a:rPr>
              <a:t>3 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05855" y="22311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Consolas"/>
              </a:rPr>
              <a:t>高 ≈2.2 格</a:t>
            </a:r>
          </a:p>
        </p:txBody>
      </p:sp>
      <p:sp>
        <p:nvSpPr>
          <p:cNvPr id="20" name="Hexagon 19"/>
          <p:cNvSpPr/>
          <p:nvPr/>
        </p:nvSpPr>
        <p:spPr>
          <a:xfrm rot="5400000">
            <a:off x="4645151" y="2832346"/>
            <a:ext cx="384048" cy="443460"/>
          </a:xfrm>
          <a:prstGeom prst="hexagon">
            <a:avLst/>
          </a:prstGeom>
          <a:noFill/>
          <a:ln w="19050">
            <a:solidFill>
              <a:srgbClr val="FFC9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 rot="5400000">
            <a:off x="5029199" y="2832346"/>
            <a:ext cx="384048" cy="443460"/>
          </a:xfrm>
          <a:prstGeom prst="hexagon">
            <a:avLst/>
          </a:prstGeom>
          <a:noFill/>
          <a:ln w="19050">
            <a:solidFill>
              <a:srgbClr val="FFC9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 rot="5400000">
            <a:off x="4837175" y="3166468"/>
            <a:ext cx="384048" cy="443460"/>
          </a:xfrm>
          <a:prstGeom prst="hexagon">
            <a:avLst/>
          </a:prstGeom>
          <a:noFill/>
          <a:ln w="19050">
            <a:solidFill>
              <a:srgbClr val="FFC9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1615" y="2670048"/>
            <a:ext cx="1572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非人比例：四足 / 横向展开 / 拖行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1" y="3675887"/>
            <a:ext cx="3054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横向剪影必须明显宽于 1 格单位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10142" y="1965960"/>
            <a:ext cx="3456432" cy="228600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10142" y="1965960"/>
            <a:ext cx="3456432" cy="38100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8" y="213969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3B30"/>
                </a:solidFill>
                <a:latin typeface="微软雅黑"/>
              </a:rPr>
              <a:t>6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742" y="22311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Consolas"/>
              </a:rPr>
              <a:t>高 ≈3.5 格</a:t>
            </a:r>
          </a:p>
        </p:txBody>
      </p:sp>
      <p:sp>
        <p:nvSpPr>
          <p:cNvPr id="29" name="Hexagon 28"/>
          <p:cNvSpPr/>
          <p:nvPr/>
        </p:nvSpPr>
        <p:spPr>
          <a:xfrm rot="5400000">
            <a:off x="8321038" y="2832346"/>
            <a:ext cx="384048" cy="443460"/>
          </a:xfrm>
          <a:prstGeom prst="hexagon">
            <a:avLst/>
          </a:prstGeom>
          <a:noFill/>
          <a:ln w="19050">
            <a:solidFill>
              <a:srgbClr val="FF3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 rot="5400000">
            <a:off x="8705086" y="2832346"/>
            <a:ext cx="384048" cy="443460"/>
          </a:xfrm>
          <a:prstGeom prst="hexagon">
            <a:avLst/>
          </a:prstGeom>
          <a:noFill/>
          <a:ln w="19050">
            <a:solidFill>
              <a:srgbClr val="FF3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 rot="5400000">
            <a:off x="9089134" y="2832346"/>
            <a:ext cx="384048" cy="443460"/>
          </a:xfrm>
          <a:prstGeom prst="hexagon">
            <a:avLst/>
          </a:prstGeom>
          <a:noFill/>
          <a:ln w="19050">
            <a:solidFill>
              <a:srgbClr val="FF3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 rot="5400000">
            <a:off x="8513062" y="3166468"/>
            <a:ext cx="384048" cy="443460"/>
          </a:xfrm>
          <a:prstGeom prst="hexagon">
            <a:avLst/>
          </a:prstGeom>
          <a:noFill/>
          <a:ln w="19050">
            <a:solidFill>
              <a:srgbClr val="FF3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 rot="5400000">
            <a:off x="8897110" y="3166468"/>
            <a:ext cx="384048" cy="443460"/>
          </a:xfrm>
          <a:prstGeom prst="hexagon">
            <a:avLst/>
          </a:prstGeom>
          <a:noFill/>
          <a:ln w="19050">
            <a:solidFill>
              <a:srgbClr val="FF3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 rot="5400000">
            <a:off x="8705086" y="3500590"/>
            <a:ext cx="384048" cy="443460"/>
          </a:xfrm>
          <a:prstGeom prst="hexagon">
            <a:avLst/>
          </a:prstGeom>
          <a:noFill/>
          <a:ln w="19050">
            <a:solidFill>
              <a:srgbClr val="FF3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47502" y="2670048"/>
            <a:ext cx="1572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建筑 / 结构尺度，有超出屏幕感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8" y="3675887"/>
            <a:ext cx="3054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要有明确的“结构”感（车厢、天井），不是“很大的怪”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4480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微软雅黑"/>
              </a:rPr>
              <a:t>三条不可省略的实现要求（策划案 §13.2）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828032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微软雅黑"/>
              </a:rPr>
              <a:t>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8280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EE7DD"/>
                </a:solidFill>
                <a:latin typeface="微软雅黑"/>
              </a:rPr>
              <a:t>footprint 完整描边 —— 所有单位按占格完整描边，不只画锚点格（Line2D 或 shader）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285232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微软雅黑"/>
              </a:rPr>
              <a:t>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2852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EE7DD"/>
                </a:solidFill>
                <a:latin typeface="微软雅黑"/>
              </a:rPr>
              <a:t>接地阴影 —— 3/4 视角下，每个单位在每一个占用格上画一个接地阴影椭圆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742432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微软雅黑"/>
              </a:rPr>
              <a:t>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" y="57424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EE7DD"/>
                </a:solidFill>
                <a:latin typeface="微软雅黑"/>
              </a:rPr>
              <a:t>移动预览显示 footprint —— 拖动时实时显示落点完整占位与合法性（青蓝 / 红）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3B30"/>
                </a:solidFill>
                <a:latin typeface="微软雅黑"/>
              </a:rPr>
              <a:t>两个 Boss 都是“建筑 / 载具本身”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828032"/>
            <a:ext cx="52120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一章 Boss = 末班车（车本体）  ·  二章 Boss = 商场中庭（建筑本体）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理由：① 6 格在 7×7 战场占 12%，人形放大到这个尺寸会很蠢；②“整座商场就是那个鬼”完全符合“日常物件才是异常”的调性；③ Boss 可以是战场本身的一部分，省一整套大型单位动画。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5870448"/>
            <a:ext cx="5212080" cy="365760"/>
          </a:xfrm>
          <a:prstGeom prst="rect">
            <a:avLst/>
          </a:prstGeom>
          <a:solidFill>
            <a:srgbClr val="1E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59436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C94D"/>
                </a:solidFill>
                <a:latin typeface="微软雅黑"/>
              </a:rPr>
              <a:t>视觉密度与体型成反比 —— </a:t>
            </a:r>
            <a:r>
              <a:rPr sz="1100" b="0" i="0">
                <a:solidFill>
                  <a:srgbClr val="8A93A6"/>
                </a:solidFill>
                <a:latin typeface="微软雅黑"/>
              </a:rPr>
              <a:t>6 格 Boss 的贴图细节要比 1 格小怪更简洁。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384048"/>
            <a:ext cx="5623560" cy="6089904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0"/>
            <a:ext cx="6382512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65836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微软雅黑"/>
              </a:rPr>
              <a:t>06 · 战场 · 可读性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877824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EEE7DD"/>
                </a:solidFill>
                <a:latin typeface="微软雅黑"/>
              </a:rPr>
              <a:t>战场可读性硬规则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42646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91056"/>
            <a:ext cx="5029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8A93A6"/>
                </a:solidFill>
                <a:latin typeface="微软雅黑"/>
              </a:rPr>
              <a:t>直接服务 V3 支柱与策划案 §13.2，每条都不可协商。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8483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Consolas"/>
              </a:rPr>
              <a:t>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2084831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地形 tile 明度对比 ≤20%，花纹 ≤tile 面积 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432303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Consolas"/>
              </a:rPr>
              <a:t>R2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432303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功能色永不出现在地形与 prop 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79775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Consolas"/>
              </a:rPr>
              <a:t>R3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779775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危害格必须同时用 颜色 + 图案 + 微动画 三重编码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27247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Consolas"/>
              </a:rP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3127247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单位与地面的明度差 ≥40%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47471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Consolas"/>
              </a:rPr>
              <a:t>R5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474719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每个单位在每个占用格上有接地阴影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82219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Consolas"/>
              </a:rPr>
              <a:t>R6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3822191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己方 / 敌方用轮廓光颜色区分，不靠底座圆环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169663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Consolas"/>
              </a:rPr>
              <a:t>R7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169663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格线始终可见，最低 15% 不透明度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517135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Consolas"/>
              </a:rPr>
              <a:t>R8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517135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所有战斗特效 ≤0.4 秒，且支持一键跳过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864607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Consolas"/>
              </a:rPr>
              <a:t>R9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" y="4864607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特效不得遮挡目标格 —— 格心保持可见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358384"/>
            <a:ext cx="5029200" cy="932688"/>
          </a:xfrm>
          <a:prstGeom prst="rect">
            <a:avLst/>
          </a:prstGeom>
          <a:solidFill>
            <a:srgbClr val="0A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358384"/>
            <a:ext cx="38100" cy="932688"/>
          </a:xfrm>
          <a:prstGeom prst="rect">
            <a:avLst/>
          </a:prstGeom>
          <a:solidFill>
            <a:srgbClr val="3D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468112"/>
            <a:ext cx="471830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1" i="0">
                <a:solidFill>
                  <a:srgbClr val="3DD6D0"/>
                </a:solidFill>
                <a:latin typeface="微软雅黑"/>
              </a:rPr>
              <a:t>R7 与氛围的冲突是最典型的取舍。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“暗到看不清”恰恰是恐怖游戏想要的，但这是战棋。解法不是妥协亮度，而是把恐怖放到战斗之外：过场镜头、地图界面、事件插画可以很暗；战斗中的战场必须清晰。那 1.5 秒过场是氛围的配额，战斗回合内不再给。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06 · 战场 · 规格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六边形 Tile 技术规格与图层结构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对齐策划案 §14.3。尖顶（pointy-top）· odd-r · y_sort_enabled = true。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Hexagon 8"/>
          <p:cNvSpPr/>
          <p:nvPr/>
        </p:nvSpPr>
        <p:spPr>
          <a:xfrm rot="5400000">
            <a:off x="557784" y="1756577"/>
            <a:ext cx="1060704" cy="1224794"/>
          </a:xfrm>
          <a:prstGeom prst="hexagon">
            <a:avLst/>
          </a:prstGeom>
          <a:noFill/>
          <a:ln w="17780">
            <a:solidFill>
              <a:srgbClr val="2D3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 rot="5400000">
            <a:off x="1618488" y="1756577"/>
            <a:ext cx="1060704" cy="1224794"/>
          </a:xfrm>
          <a:prstGeom prst="hexagon">
            <a:avLst/>
          </a:prstGeom>
          <a:noFill/>
          <a:ln w="17780">
            <a:solidFill>
              <a:srgbClr val="2D3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 rot="5400000">
            <a:off x="557784" y="2679389"/>
            <a:ext cx="1060704" cy="1224794"/>
          </a:xfrm>
          <a:prstGeom prst="hexagon">
            <a:avLst/>
          </a:prstGeom>
          <a:noFill/>
          <a:ln w="17780">
            <a:solidFill>
              <a:srgbClr val="2D3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 rot="5400000">
            <a:off x="1618488" y="2679389"/>
            <a:ext cx="1060704" cy="1224794"/>
          </a:xfrm>
          <a:prstGeom prst="hexagon">
            <a:avLst/>
          </a:prstGeom>
          <a:solidFill>
            <a:srgbClr val="0F2C2C"/>
          </a:solidFill>
          <a:ln w="17780">
            <a:solidFill>
              <a:srgbClr val="3D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 rot="5400000">
            <a:off x="2679192" y="2679389"/>
            <a:ext cx="1060704" cy="1224794"/>
          </a:xfrm>
          <a:prstGeom prst="hexagon">
            <a:avLst/>
          </a:prstGeom>
          <a:noFill/>
          <a:ln w="17780">
            <a:solidFill>
              <a:srgbClr val="2D3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 rot="5400000">
            <a:off x="557784" y="3602201"/>
            <a:ext cx="1060704" cy="1224794"/>
          </a:xfrm>
          <a:prstGeom prst="hexagon">
            <a:avLst/>
          </a:prstGeom>
          <a:noFill/>
          <a:ln w="17780">
            <a:solidFill>
              <a:srgbClr val="2D3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 rot="5400000">
            <a:off x="1618488" y="3602201"/>
            <a:ext cx="1060704" cy="1224794"/>
          </a:xfrm>
          <a:prstGeom prst="hexagon">
            <a:avLst/>
          </a:prstGeom>
          <a:noFill/>
          <a:ln w="17780">
            <a:solidFill>
              <a:srgbClr val="2D3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18488" y="3182112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Consolas"/>
              </a:rPr>
              <a:t>128 px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6634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Consolas"/>
              </a:rPr>
              <a:t>W 128 · H 148 · 行间距 111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安全区 中心 96×96；单位锚点 = tile 底部中心。128×7 ≈ 896 px 战场宽，1920×1080 下留出两侧 UI 空间。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19659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微软雅黑"/>
              </a:rPr>
              <a:t>Godot 配置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286000"/>
            <a:ext cx="3246120" cy="1874519"/>
          </a:xfrm>
          <a:prstGeom prst="rect">
            <a:avLst/>
          </a:prstGeom>
          <a:solidFill>
            <a:srgbClr val="080B12"/>
          </a:solidFill>
          <a:ln w="9525">
            <a:solidFill>
              <a:srgbClr val="262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9663" y="239572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Consolas"/>
              </a:rPr>
              <a:t>tile_shape       = TILE_SHAPE_HEXAGON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3" y="2642616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Consolas"/>
              </a:rPr>
              <a:t>tile_layout      = TILE_LAYOUT_STACKED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9663" y="2889504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Consolas"/>
              </a:rPr>
              <a:t>                   # odd-r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663" y="3136392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Consolas"/>
              </a:rPr>
              <a:t>tile_offset_axis = TILE_OFFSET_AXIS_HORIZONTAL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663" y="3383280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Consolas"/>
              </a:rPr>
              <a:t>                   # 尖顶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9663" y="363016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Consolas"/>
              </a:rPr>
              <a:t>y_sort_enabled   = true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9663" y="3877056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3DD6D0"/>
                </a:solidFill>
                <a:latin typeface="Consolas"/>
              </a:rPr>
              <a:t>战场 7 × 7 = 49 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431596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3B30"/>
                </a:solidFill>
                <a:latin typeface="微软雅黑"/>
              </a:rPr>
              <a:t>若采用更高分辨率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608576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按 2 倍出图（256×296）再降采样，不要重画。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19659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微软雅黑"/>
              </a:rPr>
              <a:t>图层结构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35240" y="2331720"/>
            <a:ext cx="3886200" cy="60350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35240" y="2331720"/>
            <a:ext cx="31750" cy="603504"/>
          </a:xfrm>
          <a:prstGeom prst="rect">
            <a:avLst/>
          </a:prstGeom>
          <a:solidFill>
            <a:srgbClr val="2D3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2395728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3949"/>
                </a:solidFill>
                <a:latin typeface="Consolas"/>
              </a:rPr>
              <a:t>TerrainLayer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239572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美术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2642616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静态 tile 集，每章 5–7 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35240" y="3044952"/>
            <a:ext cx="3886200" cy="60350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35240" y="3044952"/>
            <a:ext cx="31750" cy="603504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310896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3B30"/>
                </a:solidFill>
                <a:latin typeface="Consolas"/>
              </a:rPr>
              <a:t>HazardLayer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3108960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美术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3355848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动态 tile，需明显图案 + 微动画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5240" y="3758184"/>
            <a:ext cx="3886200" cy="60350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635240" y="3758184"/>
            <a:ext cx="31750" cy="603504"/>
          </a:xfrm>
          <a:prstGeom prst="rect">
            <a:avLst/>
          </a:prstGeom>
          <a:solidFill>
            <a:srgbClr val="3D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0" y="382219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3DD6D0"/>
                </a:solidFill>
                <a:latin typeface="Consolas"/>
              </a:rPr>
              <a:t>HighlightLayer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3822192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C94D"/>
                </a:solidFill>
                <a:latin typeface="微软雅黑"/>
              </a:rPr>
              <a:t>程序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069080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纯功能色半透明填充 + 描边，无花纹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35240" y="4471416"/>
            <a:ext cx="3886200" cy="60350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35240" y="4471416"/>
            <a:ext cx="31750" cy="603504"/>
          </a:xfrm>
          <a:prstGeom prst="rect">
            <a:avLst/>
          </a:prstGeom>
          <a:solidFill>
            <a:srgbClr val="6C44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453542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6C4464"/>
                </a:solidFill>
                <a:latin typeface="Consolas"/>
              </a:rPr>
              <a:t>FeatureLayer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81360" y="4535424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美术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4782312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prop，必须与地形有明显明度差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5184648"/>
            <a:ext cx="3886200" cy="60350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635240" y="5184648"/>
            <a:ext cx="31750" cy="603504"/>
          </a:xfrm>
          <a:prstGeom prst="rect">
            <a:avLst/>
          </a:prstGeom>
          <a:solidFill>
            <a:srgbClr val="EE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0" y="524865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Consolas"/>
              </a:rPr>
              <a:t>Node 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60" y="524865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美术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0" y="5495544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单位 + footprint 描边 + 接地阴影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3949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微软雅黑"/>
              </a:rPr>
              <a:t>意图预告：可躲 vs 追踪（策划案 §8.7 点名，不可省略）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5724144"/>
            <a:ext cx="3291840" cy="51206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58368" y="5724144"/>
            <a:ext cx="31750" cy="512064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" y="5797296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微软雅黑"/>
              </a:rPr>
              <a:t>打击格 实线</a:t>
            </a:r>
            <a:r>
              <a:rPr sz="1100" b="0" i="0">
                <a:solidFill>
                  <a:srgbClr val="8A93A6"/>
                </a:solidFill>
                <a:latin typeface="微软雅黑"/>
              </a:rPr>
              <a:t> = 打空地 → 可躲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33088" y="5724144"/>
            <a:ext cx="3474720" cy="51206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33088" y="5724144"/>
            <a:ext cx="31750" cy="512064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97680" y="5797296"/>
            <a:ext cx="32004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>
                <a:solidFill>
                  <a:srgbClr val="EEE7DD"/>
                </a:solidFill>
                <a:latin typeface="微软雅黑"/>
              </a:rPr>
              <a:t>虚线锁定 + 连线到玩家</a:t>
            </a:r>
            <a:r>
              <a:rPr sz="1100" b="0" i="0">
                <a:solidFill>
                  <a:srgbClr val="8A93A6"/>
                </a:solidFill>
                <a:latin typeface="微软雅黑"/>
              </a:rPr>
              <a:t> = 追踪 → 躲不掉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07 · 腐蚀度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腐蚀度：一张底图 + 三组贴花 + 四档后处理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本项目唯一需要美术随游戏状态动态变化的系统，也是全文性价比最高的设计 —— 玩家能“看见”自己有多贪。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965960"/>
            <a:ext cx="2560320" cy="251460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965960"/>
            <a:ext cx="2560320" cy="566928"/>
          </a:xfrm>
          <a:prstGeom prst="rect">
            <a:avLst/>
          </a:prstGeom>
          <a:solidFill>
            <a:srgbClr val="13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84831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EE7DD"/>
                </a:solidFill>
                <a:latin typeface="Consolas"/>
              </a:rPr>
              <a:t>0–2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213969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EE7DD"/>
                </a:solidFill>
                <a:latin typeface="微软雅黑"/>
              </a:rPr>
              <a:t>干净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670048"/>
            <a:ext cx="2240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基础后处理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416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C94D"/>
                </a:solidFill>
                <a:latin typeface="微软雅黑"/>
              </a:rPr>
              <a:t>“这就是个地铁站”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6976" y="29992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B6476"/>
                </a:solidFill>
                <a:latin typeface="微软雅黑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1568" y="1965960"/>
            <a:ext cx="2560320" cy="251460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965960"/>
            <a:ext cx="2560320" cy="566928"/>
          </a:xfrm>
          <a:prstGeom prst="rect">
            <a:avLst/>
          </a:prstGeom>
          <a:solidFill>
            <a:srgbClr val="2C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084831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EE7DD"/>
                </a:solidFill>
                <a:latin typeface="Consolas"/>
              </a:rPr>
              <a:t>3–5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13969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EE7DD"/>
                </a:solidFill>
                <a:latin typeface="微软雅黑"/>
              </a:rPr>
              <a:t>渗透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2670048"/>
            <a:ext cx="2240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色相往红偏 5–8° · 雾密度 +30% · 贴花组 A（符纸、渗色、多出的影子）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40416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C94D"/>
                </a:solidFill>
                <a:latin typeface="微软雅黑"/>
              </a:rPr>
              <a:t>“刚才是不是没这些东西？”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0176" y="29992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B6476"/>
                </a:solidFill>
                <a:latin typeface="微软雅黑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1965960"/>
            <a:ext cx="2560320" cy="251460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965960"/>
            <a:ext cx="2560320" cy="566928"/>
          </a:xfrm>
          <a:prstGeom prst="rect">
            <a:avLst/>
          </a:prstGeom>
          <a:solidFill>
            <a:srgbClr val="4A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2084831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EE7DD"/>
                </a:solidFill>
                <a:latin typeface="Consolas"/>
              </a:rPr>
              <a:t>6–8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8" y="213969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EE7DD"/>
                </a:solidFill>
                <a:latin typeface="微软雅黑"/>
              </a:rPr>
              <a:t>侵蚀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2670048"/>
            <a:ext cx="2240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红饱和 +25% · 暗角加强 · 贴花组 B（结构扭曲、灯笼、朱红筋络） · 呼吸缩放 ±0.5%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40416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C94D"/>
                </a:solidFill>
                <a:latin typeface="微软雅黑"/>
              </a:rPr>
              <a:t>“这里已经不是地铁了”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3376" y="29992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B6476"/>
                </a:solidFill>
                <a:latin typeface="微软雅黑"/>
              </a:rPr>
              <a:t>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87968" y="1965960"/>
            <a:ext cx="2560320" cy="251460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965960"/>
            <a:ext cx="2560320" cy="566928"/>
          </a:xfrm>
          <a:prstGeom prst="rect">
            <a:avLst/>
          </a:prstGeom>
          <a:solidFill>
            <a:srgbClr val="7A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0848" y="2084831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EE7DD"/>
                </a:solidFill>
                <a:latin typeface="Consolas"/>
              </a:rPr>
              <a:t>9+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568" y="213969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EE7DD"/>
                </a:solidFill>
                <a:latin typeface="微软雅黑"/>
              </a:rPr>
              <a:t>沦陷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70848" y="2670048"/>
            <a:ext cx="2240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全局偏红 · 灯光闪烁 · 贴花组 C · UI 边框渗出朱红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0848" y="40416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C94D"/>
                </a:solidFill>
                <a:latin typeface="微软雅黑"/>
              </a:rPr>
              <a:t>“我该跑了”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4718304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微软雅黑"/>
              </a:rPr>
              <a:t>实现纪律（省钱的关键）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047488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微软雅黑"/>
              </a:rPr>
              <a:t>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047488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EEE7DD"/>
                </a:solidFill>
                <a:latin typeface="微软雅黑"/>
              </a:rPr>
              <a:t>档位切换靠后处理 + 贴花组，绝不靠重绘场景。底图一张，贴花三组，参数四档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431536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微软雅黑"/>
              </a:rPr>
              <a:t>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" y="5431536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EEE7DD"/>
                </a:solidFill>
                <a:latin typeface="微软雅黑"/>
              </a:rPr>
              <a:t>后处理集中在一个 WorldEnvironment / 全屏 shader，由 RunManager 的腐蚀度值驱动。禁止逐资产做腐蚀版本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5815584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DD6D0"/>
                </a:solidFill>
                <a:latin typeface="微软雅黑"/>
              </a:rPr>
              <a:t>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5815584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EEE7DD"/>
                </a:solidFill>
                <a:latin typeface="微软雅黑"/>
              </a:rPr>
              <a:t>切换必须是渐变（≥1.5s），不是跳变。玩家应该“没注意到什么时候变的”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960" y="4718304"/>
            <a:ext cx="3840480" cy="1463040"/>
          </a:xfrm>
          <a:prstGeom prst="rect">
            <a:avLst/>
          </a:prstGeom>
          <a:solidFill>
            <a:srgbClr val="1E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80960" y="4718304"/>
            <a:ext cx="3840480" cy="38100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63840" y="4901184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1" i="0">
                <a:solidFill>
                  <a:srgbClr val="FF3B30"/>
                </a:solidFill>
                <a:latin typeface="微软雅黑"/>
              </a:rPr>
              <a:t>⚠  后处理不得影响 UI 层与 HighlightLayer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腐蚀度 9 时全局偏红，如果 UI 也偏红，FN_DANGER 就读不出来了 —— 这会直接摧毁红色分离。渲染顺序上 UI 必须在后处理之上。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07 ·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卡牌 · 符文 · 装备：一眼分辨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三者在策划案里职能不同，视觉上必须一眼分辨。符文用六边形是有意的 —— 它暗示“符文改的是这个世界的底层规则”。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965960"/>
            <a:ext cx="2286000" cy="288036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965960"/>
            <a:ext cx="2286000" cy="38100"/>
          </a:xfrm>
          <a:prstGeom prst="rect">
            <a:avLst/>
          </a:prstGeom>
          <a:solidFill>
            <a:srgbClr val="FFC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214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微软雅黑"/>
              </a:rPr>
              <a:t>卡牌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2542032"/>
            <a:ext cx="768096" cy="1060704"/>
          </a:xfrm>
          <a:prstGeom prst="rect">
            <a:avLst/>
          </a:prstGeom>
          <a:noFill/>
          <a:ln w="19050">
            <a:solidFill>
              <a:srgbClr val="FFC9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712463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微软雅黑"/>
              </a:rPr>
              <a:t>形状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6" y="3712463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EEE7DD"/>
                </a:solidFill>
                <a:latin typeface="微软雅黑"/>
              </a:rPr>
              <a:t>竖长方形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986783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微软雅黑"/>
              </a:rPr>
              <a:t>材质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986783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EEE7DD"/>
                </a:solidFill>
                <a:latin typeface="微软雅黑"/>
              </a:rPr>
              <a:t>符纸 / 宣纸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261103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微软雅黑"/>
              </a:rPr>
              <a:t>主色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4261103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EEE7DD"/>
                </a:solidFill>
                <a:latin typeface="微软雅黑"/>
              </a:rPr>
              <a:t>按流派分色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5902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FFC94D"/>
                </a:solidFill>
                <a:latin typeface="微软雅黑"/>
              </a:rPr>
              <a:t>“我这回合要做的事”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45536" y="1965960"/>
            <a:ext cx="2286000" cy="288036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45536" y="1965960"/>
            <a:ext cx="2286000" cy="38100"/>
          </a:xfrm>
          <a:prstGeom prst="rect">
            <a:avLst/>
          </a:prstGeom>
          <a:solidFill>
            <a:srgbClr val="B47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21214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微软雅黑"/>
              </a:rPr>
              <a:t>符文</a:t>
            </a:r>
          </a:p>
        </p:txBody>
      </p:sp>
      <p:sp>
        <p:nvSpPr>
          <p:cNvPr id="23" name="Hexagon 22"/>
          <p:cNvSpPr/>
          <p:nvPr/>
        </p:nvSpPr>
        <p:spPr>
          <a:xfrm rot="5400000">
            <a:off x="3831336" y="2544409"/>
            <a:ext cx="914400" cy="1055857"/>
          </a:xfrm>
          <a:prstGeom prst="hexagon">
            <a:avLst/>
          </a:prstGeom>
          <a:noFill/>
          <a:ln w="19050">
            <a:solidFill>
              <a:srgbClr val="B47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28416" y="3712463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微软雅黑"/>
              </a:rPr>
              <a:t>形状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3904" y="3712463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EEE7DD"/>
                </a:solidFill>
                <a:latin typeface="微软雅黑"/>
              </a:rPr>
              <a:t>六边形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8416" y="3986783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微软雅黑"/>
              </a:rPr>
              <a:t>材质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03904" y="3986783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EEE7DD"/>
                </a:solidFill>
                <a:latin typeface="微软雅黑"/>
              </a:rPr>
              <a:t>石 / 玉 / 骨的刻印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8416" y="4261103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微软雅黑"/>
              </a:rPr>
              <a:t>主色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03904" y="4261103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EEE7DD"/>
                </a:solidFill>
                <a:latin typeface="微软雅黑"/>
              </a:rPr>
              <a:t>紫 FN_RUNE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28416" y="45902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B47FE8"/>
                </a:solidFill>
                <a:latin typeface="微软雅黑"/>
              </a:rPr>
              <a:t>“规则被改写了”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32704" y="1965960"/>
            <a:ext cx="2286000" cy="288036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32704" y="1965960"/>
            <a:ext cx="2286000" cy="38100"/>
          </a:xfrm>
          <a:prstGeom prst="rect">
            <a:avLst/>
          </a:prstGeom>
          <a:solidFill>
            <a:srgbClr val="7FA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15584" y="21214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EE7DD"/>
                </a:solidFill>
                <a:latin typeface="微软雅黑"/>
              </a:rPr>
              <a:t>装备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72784" y="2697480"/>
            <a:ext cx="1005840" cy="749808"/>
          </a:xfrm>
          <a:prstGeom prst="roundRect">
            <a:avLst/>
          </a:prstGeom>
          <a:noFill/>
          <a:ln w="19050">
            <a:solidFill>
              <a:srgbClr val="7FA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15584" y="3712463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微软雅黑"/>
              </a:rPr>
              <a:t>形状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1072" y="3712463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EEE7DD"/>
                </a:solidFill>
                <a:latin typeface="微软雅黑"/>
              </a:rPr>
              <a:t>圆角方形 / 异形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15584" y="3986783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微软雅黑"/>
              </a:rPr>
              <a:t>材质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1072" y="3986783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EEE7DD"/>
                </a:solidFill>
                <a:latin typeface="微软雅黑"/>
              </a:rPr>
              <a:t>金属 / 皮革 / 现代材质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4261103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微软雅黑"/>
              </a:rPr>
              <a:t>主色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1072" y="4261103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EEE7DD"/>
                </a:solidFill>
                <a:latin typeface="微软雅黑"/>
              </a:rPr>
              <a:t>金 FN_GOLD + 材质本色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15584" y="45902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7FA8D9"/>
                </a:solidFill>
                <a:latin typeface="微软雅黑"/>
              </a:rPr>
              <a:t>“我身上带的东西”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1965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微软雅黑"/>
              </a:rPr>
              <a:t>卡牌内部信息层级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233172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49056" y="233172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体力消耗（左上角，最大的数字）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233172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FFC94D"/>
                </a:solidFill>
                <a:latin typeface="微软雅黑"/>
              </a:rPr>
              <a:t>最高频读取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269748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EE7DD"/>
                </a:solidFill>
                <a:latin typeface="微软雅黑"/>
              </a:rPr>
              <a:t>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49056" y="269748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卡名（宋体，中）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306324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49056" y="30632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效果数值（等宽粗体，高亮）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89920" y="30632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FFC94D"/>
                </a:solidFill>
                <a:latin typeface="微软雅黑"/>
              </a:rPr>
              <a:t>第二高频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34290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EE7DD"/>
                </a:solidFill>
                <a:latin typeface="微软雅黑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49056" y="342900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效果描述（黑体，小）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379476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3B30"/>
                </a:solidFill>
                <a:latin typeface="微软雅黑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49056" y="379476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插画（背景，可被文字压住）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0" y="379476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FF3B30"/>
                </a:solidFill>
                <a:latin typeface="微软雅黑"/>
              </a:rPr>
              <a:t>最低优先级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0" y="416052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EE7DD"/>
                </a:solidFill>
                <a:latin typeface="微软雅黑"/>
              </a:rPr>
              <a:t>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49056" y="416052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标签（底部小字，仅检索用）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38160" y="4663440"/>
            <a:ext cx="3383280" cy="1207008"/>
          </a:xfrm>
          <a:prstGeom prst="rect">
            <a:avLst/>
          </a:prstGeom>
          <a:solidFill>
            <a:srgbClr val="1E0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138160" y="4663440"/>
            <a:ext cx="38100" cy="1207008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21040" y="4809744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1" i="0">
                <a:solidFill>
                  <a:srgbClr val="FF3B30"/>
                </a:solidFill>
                <a:latin typeface="微软雅黑"/>
              </a:rPr>
              <a:t>⑤ 插画优先级最低，写进外包需求。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策划案 §7.5 要求卡牌数值系数化（伤害随 ATK 成长），意味着卡面数值是动态的、会变成三位数 —— 插画必须给数字留出足够的低对比区域。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5138928"/>
            <a:ext cx="7223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00" b="1" i="0">
                <a:solidFill>
                  <a:srgbClr val="B47FE8"/>
                </a:solidFill>
                <a:latin typeface="微软雅黑"/>
              </a:rPr>
              <a:t>符文面板（策划案 §6.5「顺序可见」）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6 槽有序 + 顺序箭头。符文的六边形与卡牌的长方形在缩略图下绝不会混淆 —— 这是刻意的形状分工。</a:t>
            </a:r>
          </a:p>
        </p:txBody>
      </p:sp>
      <p:sp>
        <p:nvSpPr>
          <p:cNvPr id="62" name="Hexagon 61"/>
          <p:cNvSpPr/>
          <p:nvPr/>
        </p:nvSpPr>
        <p:spPr>
          <a:xfrm rot="5400000">
            <a:off x="758952" y="5725983"/>
            <a:ext cx="566928" cy="654631"/>
          </a:xfrm>
          <a:prstGeom prst="hexagon">
            <a:avLst/>
          </a:prstGeom>
          <a:solidFill>
            <a:srgbClr val="1C1428"/>
          </a:solidFill>
          <a:ln w="15240">
            <a:solidFill>
              <a:srgbClr val="B47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16736" y="59436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B47FE8"/>
                </a:solidFill>
                <a:latin typeface="微软雅黑"/>
              </a:rPr>
              <a:t>›</a:t>
            </a:r>
          </a:p>
        </p:txBody>
      </p:sp>
      <p:sp>
        <p:nvSpPr>
          <p:cNvPr id="64" name="Hexagon 63"/>
          <p:cNvSpPr/>
          <p:nvPr/>
        </p:nvSpPr>
        <p:spPr>
          <a:xfrm rot="5400000">
            <a:off x="1472184" y="5725983"/>
            <a:ext cx="566928" cy="654631"/>
          </a:xfrm>
          <a:prstGeom prst="hexagon">
            <a:avLst/>
          </a:prstGeom>
          <a:solidFill>
            <a:srgbClr val="1C1428"/>
          </a:solidFill>
          <a:ln w="15240">
            <a:solidFill>
              <a:srgbClr val="B47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29968" y="59436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B47FE8"/>
                </a:solidFill>
                <a:latin typeface="微软雅黑"/>
              </a:rPr>
              <a:t>›</a:t>
            </a:r>
          </a:p>
        </p:txBody>
      </p:sp>
      <p:sp>
        <p:nvSpPr>
          <p:cNvPr id="66" name="Hexagon 65"/>
          <p:cNvSpPr/>
          <p:nvPr/>
        </p:nvSpPr>
        <p:spPr>
          <a:xfrm rot="5400000">
            <a:off x="2185416" y="5725983"/>
            <a:ext cx="566928" cy="654631"/>
          </a:xfrm>
          <a:prstGeom prst="hexagon">
            <a:avLst/>
          </a:prstGeom>
          <a:solidFill>
            <a:srgbClr val="1C1428"/>
          </a:solidFill>
          <a:ln w="15240">
            <a:solidFill>
              <a:srgbClr val="B47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0" y="59436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B47FE8"/>
                </a:solidFill>
                <a:latin typeface="微软雅黑"/>
              </a:rPr>
              <a:t>›</a:t>
            </a:r>
          </a:p>
        </p:txBody>
      </p:sp>
      <p:sp>
        <p:nvSpPr>
          <p:cNvPr id="68" name="Hexagon 67"/>
          <p:cNvSpPr/>
          <p:nvPr/>
        </p:nvSpPr>
        <p:spPr>
          <a:xfrm rot="5400000">
            <a:off x="2898648" y="5725983"/>
            <a:ext cx="566928" cy="654631"/>
          </a:xfrm>
          <a:prstGeom prst="hexagon">
            <a:avLst/>
          </a:prstGeom>
          <a:solidFill>
            <a:srgbClr val="1C1428"/>
          </a:solidFill>
          <a:ln w="15240">
            <a:solidFill>
              <a:srgbClr val="B47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56432" y="59436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B47FE8"/>
                </a:solidFill>
                <a:latin typeface="微软雅黑"/>
              </a:rPr>
              <a:t>›</a:t>
            </a:r>
          </a:p>
        </p:txBody>
      </p:sp>
      <p:sp>
        <p:nvSpPr>
          <p:cNvPr id="70" name="Hexagon 69"/>
          <p:cNvSpPr/>
          <p:nvPr/>
        </p:nvSpPr>
        <p:spPr>
          <a:xfrm rot="5400000">
            <a:off x="3611880" y="5725983"/>
            <a:ext cx="566928" cy="654631"/>
          </a:xfrm>
          <a:prstGeom prst="hexagon">
            <a:avLst/>
          </a:prstGeom>
          <a:solidFill>
            <a:srgbClr val="1C1428"/>
          </a:solidFill>
          <a:ln w="15240">
            <a:solidFill>
              <a:srgbClr val="B47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69664" y="59436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B47FE8"/>
                </a:solidFill>
                <a:latin typeface="微软雅黑"/>
              </a:rPr>
              <a:t>›</a:t>
            </a:r>
          </a:p>
        </p:txBody>
      </p:sp>
      <p:sp>
        <p:nvSpPr>
          <p:cNvPr id="72" name="Hexagon 71"/>
          <p:cNvSpPr/>
          <p:nvPr/>
        </p:nvSpPr>
        <p:spPr>
          <a:xfrm rot="5400000">
            <a:off x="4325112" y="5725983"/>
            <a:ext cx="566928" cy="654631"/>
          </a:xfrm>
          <a:prstGeom prst="hexagon">
            <a:avLst/>
          </a:prstGeom>
          <a:solidFill>
            <a:srgbClr val="1C1428"/>
          </a:solidFill>
          <a:ln w="15240">
            <a:solidFill>
              <a:srgbClr val="B47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08 · 红线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美术红线：明确不做什么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红线比方向更省钱 —— 它挡掉的是“画完了才发现不能用”。所有 AI prompt 必带 no gore。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965960"/>
            <a:ext cx="5166360" cy="64008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0391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3B30"/>
                </a:solidFill>
                <a:latin typeface="微软雅黑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202082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不做血浆、内脏、断肢、尸体特写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229514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恐怖来自逻辑错误。血浆会拉低成廉价恐怖，且提高分级与平台风险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1965960"/>
            <a:ext cx="5166360" cy="64008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20391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3B30"/>
                </a:solidFill>
                <a:latin typeface="微软雅黑"/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202082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不做突然出现的 jump scare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229514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45 分钟一局、玩几百小时。第二次就失效，第十次变成骚扰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52344"/>
            <a:ext cx="5166360" cy="64008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254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3B30"/>
                </a:solidFill>
                <a:latin typeface="微软雅黑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280720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不做无源的紫色氛围光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308152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§5.1 —— 廉价感第一来源。光源必须有现实出处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0488" y="2752344"/>
            <a:ext cx="5166360" cy="64008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28254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3B30"/>
                </a:solidFill>
                <a:latin typeface="微软雅黑"/>
              </a:rPr>
              <a:t>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5976" y="280720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战斗中不做镜头旋转 / 抖屏遮挡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976" y="308152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六边形战场旋转后玩家失去方位感；抖屏影响精确点击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538728"/>
            <a:ext cx="5166360" cy="64008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611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3B30"/>
                </a:solidFill>
                <a:latin typeface="微软雅黑"/>
              </a:rPr>
              <a:t>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" y="359359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场景里不出现高明度亮红（V 上限 45%）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" y="386791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会摧毁“红 = 威胁”的信息通道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0488" y="3538728"/>
            <a:ext cx="5166360" cy="64008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3611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3B30"/>
                </a:solidFill>
                <a:latin typeface="微软雅黑"/>
              </a:rPr>
              <a:t>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5976" y="359359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不把功能色用于装饰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5976" y="386791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功能色是玩家的信息通道，不是氛围工具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25112"/>
            <a:ext cx="5166360" cy="64008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398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3B30"/>
                </a:solidFill>
                <a:latin typeface="微软雅黑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437997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不做古风 / 仙侠画风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465429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“东方”在本项目里是符号与母题，不是画风。底子是现代写实城市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0488" y="4325112"/>
            <a:ext cx="5166360" cy="64008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6792" y="4398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3B30"/>
                </a:solidFill>
                <a:latin typeface="微软雅黑"/>
              </a:rPr>
              <a:t>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5976" y="437997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不做过量东方符号堆砌（每房间 ≤3 条）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5976" y="465429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堆砌 = 主题变装饰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111496"/>
            <a:ext cx="5166360" cy="64008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3B30"/>
                </a:solidFill>
                <a:latin typeface="微软雅黑"/>
              </a:rPr>
              <a:t>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" y="516636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不为腐蚀度重绘场景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" y="54406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必须走后处理 + 贴花（§11）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0488" y="5111496"/>
            <a:ext cx="5166360" cy="640080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36792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3B30"/>
                </a:solidFill>
                <a:latin typeface="微软雅黑"/>
              </a:rPr>
              <a:t>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5976" y="516636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不做超过 0.4s 的战斗特效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5976" y="544068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A93A6"/>
                </a:solidFill>
                <a:latin typeface="微软雅黑"/>
              </a:rPr>
              <a:t>R8 —— 肉鸽玩家会玩几百小时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5943600"/>
            <a:ext cx="10874959" cy="402336"/>
          </a:xfrm>
          <a:prstGeom prst="rect">
            <a:avLst/>
          </a:prstGeom>
          <a:solidFill>
            <a:srgbClr val="1A1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58368" y="5943600"/>
            <a:ext cx="38100" cy="402336"/>
          </a:xfrm>
          <a:prstGeom prst="rect">
            <a:avLst/>
          </a:prstGeom>
          <a:solidFill>
            <a:srgbClr val="FFC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" y="603504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C94D"/>
                </a:solidFill>
                <a:latin typeface="微软雅黑"/>
              </a:rPr>
              <a:t>⚠ </a:t>
            </a:r>
            <a:r>
              <a:rPr sz="1100" b="0" i="0">
                <a:solidFill>
                  <a:srgbClr val="8A93A6"/>
                </a:solidFill>
                <a:latin typeface="微软雅黑"/>
              </a:rPr>
              <a:t>不使用来源不明的参考图作为最终资产。moodboard 阶段的 AI 生成图与网络参考仅供内部沟通；正式资产必须原创或有明确授权。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08 · 排期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M0 资产清单：目标不是好看，是验证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对齐策划案 §17 的 M0（技术验证 Vertical Slice，2–3 周）。第一个 demo 纯灰盒 —— 验证“这游戏好玩吗”，不是“好看吗”。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965960"/>
            <a:ext cx="6903720" cy="301752"/>
          </a:xfrm>
          <a:prstGeom prst="rect">
            <a:avLst/>
          </a:prstGeom>
          <a:solidFill>
            <a:srgbClr val="1D25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025396"/>
            <a:ext cx="16824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资产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7752" y="2025396"/>
            <a:ext cx="1152144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数量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025396"/>
            <a:ext cx="85953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精度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025396"/>
            <a:ext cx="23682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用途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025396"/>
            <a:ext cx="1097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267712"/>
            <a:ext cx="6903720" cy="333756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2267712"/>
            <a:ext cx="6903720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322576"/>
            <a:ext cx="16824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MB-03 可读性 moodboard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7752" y="2322576"/>
            <a:ext cx="1152144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1 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322576"/>
            <a:ext cx="85953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322576"/>
            <a:ext cx="23682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前置于以下所有 UI 工作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322576"/>
            <a:ext cx="109728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01468"/>
            <a:ext cx="6903720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2656332"/>
            <a:ext cx="16824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六边形 tile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7752" y="2656332"/>
            <a:ext cx="1152144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3 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2656332"/>
            <a:ext cx="85953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灰盒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656332"/>
            <a:ext cx="23682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验证 §9.1 尺寸参数与 odd-r 对齐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2656332"/>
            <a:ext cx="109728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2935224"/>
            <a:ext cx="6903720" cy="333756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2935224"/>
            <a:ext cx="6903720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2990088"/>
            <a:ext cx="16824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高亮层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7752" y="2990088"/>
            <a:ext cx="1152144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4 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2990088"/>
            <a:ext cx="85953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正式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2990088"/>
            <a:ext cx="23682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验证功能色与 R2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990088"/>
            <a:ext cx="109728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268980"/>
            <a:ext cx="6903720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2" y="3323844"/>
            <a:ext cx="16824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单位占位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87752" y="3323844"/>
            <a:ext cx="1152144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1格×2 3格×1 6格×1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86200" y="3323844"/>
            <a:ext cx="85953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灰盒 + 正式描边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92040" y="3323844"/>
            <a:ext cx="23682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验证体型可读性（策划案 D8 最大风险）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3323844"/>
            <a:ext cx="109728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C94D"/>
                </a:solidFill>
                <a:latin typeface="微软雅黑"/>
              </a:rPr>
              <a:t>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602736"/>
            <a:ext cx="6903720" cy="333756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3602736"/>
            <a:ext cx="6903720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" y="3657600"/>
            <a:ext cx="16824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意图图标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87752" y="3657600"/>
            <a:ext cx="1152144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6 种 + 可躲/追踪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3657600"/>
            <a:ext cx="85953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正式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2040" y="3657600"/>
            <a:ext cx="23682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§8.3，策划案 §8.7 的核心验证项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3657600"/>
            <a:ext cx="109728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C94D"/>
                </a:solidFill>
                <a:latin typeface="微软雅黑"/>
              </a:rPr>
              <a:t>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3936492"/>
            <a:ext cx="6903720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" y="3991356"/>
            <a:ext cx="16824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卡牌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87752" y="3991356"/>
            <a:ext cx="1152144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边框 1 + 基石卡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86200" y="3991356"/>
            <a:ext cx="85953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半正式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3991356"/>
            <a:ext cx="23682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验证信息层级与动态数值排版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06640" y="3991356"/>
            <a:ext cx="109728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4270248"/>
            <a:ext cx="6903720" cy="333756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8368" y="4270248"/>
            <a:ext cx="6903720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8952" y="4325112"/>
            <a:ext cx="16824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符文槽条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87752" y="4325112"/>
            <a:ext cx="1152144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6 槽 + 顺序箭头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86200" y="4325112"/>
            <a:ext cx="85953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正式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92040" y="4325112"/>
            <a:ext cx="23682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验证策划案 §6.5「顺序可见」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4325112"/>
            <a:ext cx="109728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C94D"/>
                </a:solidFill>
                <a:latin typeface="微软雅黑"/>
              </a:rPr>
              <a:t>⭐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4604004"/>
            <a:ext cx="6903720" cy="762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8952" y="4658868"/>
            <a:ext cx="16824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EEE7DD"/>
                </a:solidFill>
                <a:latin typeface="微软雅黑"/>
              </a:rPr>
              <a:t>腐蚀度后处理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87752" y="4658868"/>
            <a:ext cx="1152144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4 档参数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86200" y="4658868"/>
            <a:ext cx="85953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正式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2040" y="4658868"/>
            <a:ext cx="2368296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验证不影响 UI 与高亮层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658868"/>
            <a:ext cx="109728" cy="333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C94D"/>
                </a:solidFill>
                <a:latin typeface="微软雅黑"/>
              </a:rPr>
              <a:t>⭐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818120" y="1965960"/>
            <a:ext cx="3712463" cy="1371600"/>
          </a:xfrm>
          <a:prstGeom prst="rect">
            <a:avLst/>
          </a:prstGeom>
          <a:solidFill>
            <a:srgbClr val="0A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818120" y="1965960"/>
            <a:ext cx="3712463" cy="38100"/>
          </a:xfrm>
          <a:prstGeom prst="rect">
            <a:avLst/>
          </a:prstGeom>
          <a:solidFill>
            <a:srgbClr val="3D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19288" y="21396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3DD6D0"/>
                </a:solidFill>
                <a:latin typeface="微软雅黑"/>
              </a:rPr>
              <a:t>M0 的美术验收标准只有一条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19288" y="2450592"/>
            <a:ext cx="33101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EEE7DD"/>
                </a:solidFill>
                <a:latin typeface="微软雅黑"/>
              </a:rPr>
              <a:t>把战斗画面缩到 25%，能分清 己方 / 敌方 / 体型 / 危害格 / 意图。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8A93A6"/>
                </a:solidFill>
                <a:latin typeface="微软雅黑"/>
              </a:rPr>
              <a:t>分不清 = 参数还要调，不是“以后加特效就好了”。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18120" y="35295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M1 追加（单局闭环，4–5 周）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3840480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·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92440" y="3840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MB-01 / MB-02 完成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18120" y="4206240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·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92440" y="4206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第一章黄泉线完整 tile 集（7 地形 + 3 危害）+ prop 12 件 + 贴花组 A/B/C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572000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·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92440" y="4572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怪物 1 格×4、3 格×1（正式）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18120" y="4937760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·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92440" y="4937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英雄 1 个职业完整 —— 建议镇邪者（现代占比最高、最好画）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303520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·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92440" y="53035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卡牌边框 4 稀有度 + 20 张卡插画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18120" y="5669280"/>
            <a:ext cx="2194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C94D"/>
                </a:solidFill>
                <a:latin typeface="微软雅黑"/>
              </a:rPr>
              <a:t>·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92440" y="56692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EEE7DD"/>
                </a:solidFill>
                <a:latin typeface="微软雅黑"/>
              </a:rPr>
              <a:t>地图界面（盲探迷雾）+ 腐蚀度条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58368" y="4956048"/>
            <a:ext cx="6903720" cy="1207008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58368" y="4956048"/>
            <a:ext cx="38100" cy="1207008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59536" y="5102352"/>
            <a:ext cx="6492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1" i="0">
                <a:solidFill>
                  <a:srgbClr val="EEE7DD"/>
                </a:solidFill>
                <a:latin typeface="微软雅黑"/>
              </a:rPr>
              <a:t>注意：M0 没有任何美术交付物需要“画”。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策划案 §14.3 明确 footprint 描边用 Line2D / shader 代码绘制；§12.1 纪律 3 要求战斗可无渲染跑完。上表中的“正式”项全部是功能色参数与图标规范，不是插画 —— 它们由程序 + 规范落地，不阻塞灰盒 demo。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08 · 待决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待决问题 A1–A8：确认后升 v0.2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文档其余部分已按“本文假设”推进，不等待答复。但这 8 条会影响资产量与管线，建议开工前拍板。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938528"/>
            <a:ext cx="10874959" cy="51206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075688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Consolas"/>
              </a:rPr>
              <a:t>A1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756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3 章 vs 5 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20848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tile 集数量，约 40% 场景资产量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9128" y="20848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3 章主线 + 2 储备皮肤。要扩章优先扩无尽楼（重复即复用）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624328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Consolas"/>
              </a:rPr>
              <a:t>A2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62432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视角确认（俯视 3/4）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7328" y="263347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是否需要多朝向 sprite、接地阴影方案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63347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采纳 3/4。策划案 §14.3 的 y_sort 已隐含此结论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035808"/>
            <a:ext cx="10874959" cy="51206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172968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Consolas"/>
              </a:rPr>
              <a:t>A3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17296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2D 手绘 vs 像素 vs 3D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318211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整条管线与外包对象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318211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采纳 2D 手绘 sprite。L0 的质感只有手绘 / 写实能承接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721608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Consolas"/>
              </a:rPr>
              <a:t>A4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72160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职业命名冲突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73075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所有角色资产命名、UI 文案、图鉴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373075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对外用 L0 命名，代码 id 用机制原型（hero_exorcist ↔ 骑士）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133088"/>
            <a:ext cx="10874959" cy="51206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270248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Consolas"/>
              </a:rPr>
              <a:t>A5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27024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单位朝向数量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7328" y="427939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动画量 ×N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39128" y="427939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6 朝向用 3 张图 + 水平翻转（前 / 侧 / 背），不做 6 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818888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Consolas"/>
              </a:rPr>
              <a:t>A6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8188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“战场即 Boss”方案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67328" y="482803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Boss 战的实现方式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39128" y="4828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强烈建议采用。省一整套大型单位动画，更符合调性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5230368"/>
            <a:ext cx="10874959" cy="512064"/>
          </a:xfrm>
          <a:prstGeom prst="rect">
            <a:avLst/>
          </a:prstGeom>
          <a:solidFill>
            <a:srgbClr val="11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" y="5367528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Consolas"/>
              </a:rPr>
              <a:t>A7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36752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目标分辨率与 UI 缩放基准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8" y="537667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全部出图尺寸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9128" y="537667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基准 1920×1080，资产按 2x 出，支持 4K 降采样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" y="5916168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C94D"/>
                </a:solidFill>
                <a:latin typeface="Consolas"/>
              </a:rPr>
              <a:t>A8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91616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EEE7DD"/>
                </a:solidFill>
                <a:latin typeface="微软雅黑"/>
              </a:rPr>
              <a:t>字体授权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67328" y="5925312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8A93A6"/>
                </a:solidFill>
                <a:latin typeface="微软雅黑"/>
              </a:rPr>
              <a:t>宋体 / 楷体的商用授权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39128" y="592531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3DD6D0"/>
                </a:solidFill>
                <a:latin typeface="微软雅黑"/>
              </a:rPr>
              <a:t>尽早确认。免费可商用备选：思源宋体、霞鹜文楷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7328" y="1737360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5B6476"/>
                </a:solidFill>
                <a:latin typeface="微软雅黑"/>
              </a:rPr>
              <a:t>阻塞什么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39128" y="1737360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5B6476"/>
                </a:solidFill>
                <a:latin typeface="微软雅黑"/>
              </a:rPr>
              <a:t>本文建议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6382512"/>
            <a:ext cx="10874959" cy="8890"/>
          </a:xfrm>
          <a:prstGeom prst="rect">
            <a:avLst/>
          </a:prstGeom>
          <a:solidFill>
            <a:srgbClr val="262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8A2B1C"/>
                </a:solidFill>
                <a:latin typeface="微软雅黑"/>
              </a:rPr>
              <a:t>附录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7607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EE7DD"/>
                </a:solidFill>
                <a:latin typeface="微软雅黑"/>
              </a:rPr>
              <a:t>一页速查：可打印贴墙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52144"/>
            <a:ext cx="548640" cy="40640"/>
          </a:xfrm>
          <a:prstGeom prst="rect">
            <a:avLst/>
          </a:prstGeom>
          <a:solidFill>
            <a:srgbClr val="6D04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3A6"/>
                </a:solidFill>
                <a:latin typeface="微软雅黑"/>
              </a:rPr>
              <a:t>外包沟通、AI 出图、日常评审都用这一页。争议出现时，先回到这十条。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82512"/>
            <a:ext cx="5669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B6476"/>
                </a:solidFill>
                <a:latin typeface="微软雅黑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8251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39404E"/>
                </a:solidFill>
                <a:latin typeface="微软雅黑"/>
              </a:rPr>
              <a:t>《（暂名）Hex Spire》 美术高概念 v0.1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874519"/>
            <a:ext cx="10874959" cy="4343400"/>
          </a:xfrm>
          <a:prstGeom prst="rect">
            <a:avLst/>
          </a:prstGeom>
          <a:solidFill>
            <a:srgbClr val="080B12"/>
          </a:solidFill>
          <a:ln w="9525">
            <a:solidFill>
              <a:srgbClr val="262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4825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【定位】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088" y="2048256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EEE7DD"/>
                </a:solidFill>
                <a:latin typeface="微软雅黑"/>
              </a:rPr>
              <a:t>90% 真实城市 + 10% 不对劲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2316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【支柱】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2423160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DD6D0"/>
                </a:solidFill>
                <a:latin typeface="微软雅黑"/>
              </a:rPr>
              <a:t>V3 可读性 &gt; V1 可信度 &gt; V2 克制    ← 冲突时永远牺牲氛围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9806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【公式】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7088" y="2798064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8A2B1C"/>
                </a:solidFill>
                <a:latin typeface="微软雅黑"/>
              </a:rPr>
              <a:t>传统母题 × 现代载体 × 一处日常逻辑错误   （每房间 ≤3 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317296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【色板】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3172968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8A93A6"/>
                </a:solidFill>
                <a:latin typeface="Consolas"/>
              </a:rPr>
              <a:t>#0B0C17 墨夜 / #2D3949 钢灰 / #3D2B45 靛紫 / #EEE7DD 香灰 / #6D0409 朱红(≤3%)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54787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【分章】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7088" y="3547872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6C4464"/>
                </a:solidFill>
                <a:latin typeface="微软雅黑"/>
              </a:rPr>
              <a:t>一章 靛蓝紫(地铁)   二章 暗红橙(商场)   终章 青灰冷绿(医院·唯一明亮)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92277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【红色】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3922776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3B30"/>
                </a:solidFill>
                <a:latin typeface="微软雅黑"/>
              </a:rPr>
              <a:t>压暗不动的红是装饰，明亮会动的红是威胁  （场景红 V≤45%，UI 红 V=100%）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29768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【高亮】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47088" y="4297680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DD6D0"/>
                </a:solidFill>
                <a:latin typeface="微软雅黑"/>
              </a:rPr>
              <a:t>地面高亮只许两色：青蓝=合法/己方，亮红=危险/非法。其余功能色只上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467258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【体型】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4672584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C94D"/>
                </a:solidFill>
                <a:latin typeface="微软雅黑"/>
              </a:rPr>
              <a:t>1格=人形 / 3格=非人比例 / 6格=建筑尺度  +  footprint描边 + 每格接地阴影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504748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【腐蚀】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47088" y="5047488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B47FE8"/>
                </a:solidFill>
                <a:latin typeface="微软雅黑"/>
              </a:rPr>
              <a:t>一张底图 + 三组贴花 + 四档后处理   （后处理不得影响 UI 与高亮层）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542239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【红线】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7088" y="5422392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3B30"/>
                </a:solidFill>
                <a:latin typeface="微软雅黑"/>
              </a:rPr>
              <a:t>无血浆 / 无 jump scare / 无无源紫光 / 场景无高饱和红 / 无古风画风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579729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C94D"/>
                </a:solidFill>
                <a:latin typeface="微软雅黑"/>
              </a:rPr>
              <a:t>【验收】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47088" y="5797296"/>
            <a:ext cx="9326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3DD6D0"/>
                </a:solidFill>
                <a:latin typeface="微软雅黑"/>
              </a:rPr>
              <a:t>缩到 25% 还分得清 己方·敌方·体型·危害格·意图 = 合格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476"/>
                </a:solidFill>
                <a:latin typeface="微软雅黑"/>
              </a:rPr>
              <a:t>v0.1 —— 与 00_系统策划案.md v0.3 对齐。A1–A8 确认后升 v0.2。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