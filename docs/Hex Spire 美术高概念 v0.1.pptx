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3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g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g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0"/>
            <a:ext cx="6339535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188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A2B1C"/>
                </a:solidFill>
                <a:latin typeface="Consolas"/>
              </a:rPr>
              <a:t>ART HIGH CONCEPT  ·  v0.1  ·  2026.08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58521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8A93A6"/>
                </a:solidFill>
                <a:latin typeface="微软雅黑"/>
              </a:rPr>
              <a:t>（暂名）</a:t>
            </a:r>
            <a:r>
              <a:rPr sz="5200" b="1" i="0">
                <a:solidFill>
                  <a:srgbClr val="EEE7DD"/>
                </a:solidFill>
                <a:latin typeface="微软雅黑"/>
              </a:rPr>
              <a:t>Hex Spire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95728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i="0">
                <a:solidFill>
                  <a:srgbClr val="EEE7DD"/>
                </a:solidFill>
                <a:latin typeface="微软雅黑"/>
              </a:rPr>
              <a:t>美术高概念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017520"/>
            <a:ext cx="822960" cy="3810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3310128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 i="0">
                <a:solidFill>
                  <a:srgbClr val="6C4464"/>
                </a:solidFill>
                <a:latin typeface="微软雅黑"/>
              </a:rPr>
              <a:t>在熟悉的城市中，我们走进了不熟悉的世界。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840480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0" i="0">
                <a:solidFill>
                  <a:srgbClr val="EEE7DD"/>
                </a:solidFill>
                <a:latin typeface="微软雅黑"/>
              </a:rPr>
              <a:t>画面里 </a:t>
            </a:r>
            <a:r>
              <a:rPr sz="1450" b="1" i="0">
                <a:solidFill>
                  <a:srgbClr val="3DD6D0"/>
                </a:solidFill>
                <a:latin typeface="微软雅黑"/>
              </a:rPr>
              <a:t>90%</a:t>
            </a:r>
            <a:r>
              <a:rPr sz="1450" b="0" i="0">
                <a:solidFill>
                  <a:srgbClr val="EEE7DD"/>
                </a:solidFill>
                <a:latin typeface="微软雅黑"/>
              </a:rPr>
              <a:t> 是你今天真的见过的城市，</a:t>
            </a:r>
            <a:r>
              <a:rPr sz="1450" b="1" i="0">
                <a:solidFill>
                  <a:srgbClr val="FF3B30"/>
                </a:solidFill>
                <a:latin typeface="微软雅黑"/>
              </a:rPr>
              <a:t>10%</a:t>
            </a:r>
            <a:r>
              <a:rPr sz="1450" b="0" i="0">
                <a:solidFill>
                  <a:srgbClr val="EEE7DD"/>
                </a:solidFill>
                <a:latin typeface="微软雅黑"/>
              </a:rPr>
              <a:t> 不对劲。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0" i="0">
                <a:solidFill>
                  <a:srgbClr val="8A93A6"/>
                </a:solidFill>
                <a:latin typeface="微软雅黑"/>
              </a:rPr>
              <a:t>恐怖来自那 10%，不来自那 90%。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846320"/>
            <a:ext cx="771144" cy="237744"/>
          </a:xfrm>
          <a:prstGeom prst="rect">
            <a:avLst/>
          </a:prstGeom>
          <a:noFill/>
          <a:ln w="9525">
            <a:solidFill>
              <a:srgbClr val="2D39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4878324"/>
            <a:ext cx="7711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D3949"/>
                </a:solidFill>
                <a:latin typeface="微软雅黑"/>
              </a:rPr>
              <a:t>单人肉鸽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0952" y="4846320"/>
            <a:ext cx="904494" cy="237744"/>
          </a:xfrm>
          <a:prstGeom prst="rect">
            <a:avLst/>
          </a:prstGeom>
          <a:noFill/>
          <a:ln w="9525">
            <a:solidFill>
              <a:srgbClr val="2D39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20952" y="4878324"/>
            <a:ext cx="90449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D3949"/>
                </a:solidFill>
                <a:latin typeface="微软雅黑"/>
              </a:rPr>
              <a:t>六边形战棋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6886" y="4846320"/>
            <a:ext cx="771144" cy="237744"/>
          </a:xfrm>
          <a:prstGeom prst="rect">
            <a:avLst/>
          </a:prstGeom>
          <a:noFill/>
          <a:ln w="9525">
            <a:solidFill>
              <a:srgbClr val="2D39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16886" y="4878324"/>
            <a:ext cx="7711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D3949"/>
                </a:solidFill>
                <a:latin typeface="微软雅黑"/>
              </a:rPr>
              <a:t>卡牌构筑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79470" y="4846320"/>
            <a:ext cx="1524571" cy="237744"/>
          </a:xfrm>
          <a:prstGeom prst="rect">
            <a:avLst/>
          </a:prstGeom>
          <a:noFill/>
          <a:ln w="9525">
            <a:solidFill>
              <a:srgbClr val="8A2B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79470" y="4878324"/>
            <a:ext cx="152457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8A2B1C"/>
                </a:solidFill>
                <a:latin typeface="微软雅黑"/>
              </a:rPr>
              <a:t>东方怪谈 × 现代城市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358384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B6476"/>
                </a:solidFill>
                <a:latin typeface="微软雅黑"/>
              </a:rPr>
              <a:t>对齐 </a:t>
            </a:r>
            <a:r>
              <a:rPr sz="1100" b="0" i="0">
                <a:solidFill>
                  <a:srgbClr val="8A93A6"/>
                </a:solidFill>
                <a:latin typeface="Consolas"/>
              </a:rPr>
              <a:t>00_系统策划案.md v0.3</a:t>
            </a:r>
            <a:r>
              <a:rPr sz="1100" b="0" i="0">
                <a:solidFill>
                  <a:srgbClr val="5B6476"/>
                </a:solidFill>
                <a:latin typeface="微软雅黑"/>
              </a:rPr>
              <a:t>   ·   待决项 A1–A8 见末页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2B1C"/>
                </a:solidFill>
                <a:latin typeface="微软雅黑"/>
              </a:rPr>
              <a:t>CONTENTS · 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76072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EE7DD"/>
                </a:solidFill>
                <a:latin typeface="微软雅黑"/>
              </a:rPr>
              <a:t>这份文档要回答什么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52144"/>
            <a:ext cx="548640" cy="4064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A93A6"/>
                </a:solidFill>
                <a:latin typeface="微软雅黑"/>
              </a:rPr>
              <a:t>美术不是“画得好看”，而是“每一条都能被验收”。全篇 16 节，本 PPT 取其中最需要拍板与最容易翻车的部分。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8251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6476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9404E"/>
                </a:solidFill>
                <a:latin typeface="微软雅黑"/>
              </a:rPr>
              <a:t>《（暂名）Hex Spire》 美术高概念 v0.1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93392"/>
            <a:ext cx="5166360" cy="896112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993392"/>
            <a:ext cx="38100" cy="896112"/>
          </a:xfrm>
          <a:prstGeom prst="rect">
            <a:avLst/>
          </a:prstGeom>
          <a:solidFill>
            <a:srgbClr val="3D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13055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DD6D0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112264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EE7DD"/>
                </a:solidFill>
                <a:latin typeface="微软雅黑"/>
              </a:rPr>
              <a:t>美术定位与三大支柱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2468880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8A93A6"/>
                </a:solidFill>
                <a:latin typeface="微软雅黑"/>
              </a:rPr>
              <a:t>V3 可读性 &gt; V1 可信度 &gt; V2 克制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1993392"/>
            <a:ext cx="5166360" cy="896112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0488" y="1993392"/>
            <a:ext cx="38100" cy="896112"/>
          </a:xfrm>
          <a:prstGeom prst="rect">
            <a:avLst/>
          </a:prstGeom>
          <a:solidFill>
            <a:srgbClr val="8A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4" y="213055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A2B1C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1736" y="2112264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EE7DD"/>
                </a:solidFill>
                <a:latin typeface="微软雅黑"/>
              </a:rPr>
              <a:t>核心转译公式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1736" y="2468880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8A93A6"/>
                </a:solidFill>
                <a:latin typeface="微软雅黑"/>
              </a:rPr>
              <a:t>怪谈是怎么长在城市里的（16 条词表）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054096"/>
            <a:ext cx="5166360" cy="896112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" y="3054096"/>
            <a:ext cx="38100" cy="896112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" y="3191256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D0409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317296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EE7DD"/>
                </a:solidFill>
                <a:latin typeface="微软雅黑"/>
              </a:rPr>
              <a:t>色彩系统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3529584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8A93A6"/>
                </a:solidFill>
                <a:latin typeface="微软雅黑"/>
              </a:rPr>
              <a:t>场景色板 × 功能色，红色冲突的解法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0488" y="3054096"/>
            <a:ext cx="5166360" cy="896112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0488" y="3054096"/>
            <a:ext cx="38100" cy="896112"/>
          </a:xfrm>
          <a:prstGeom prst="rect">
            <a:avLst/>
          </a:prstGeom>
          <a:solidFill>
            <a:srgbClr val="6C4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9944" y="3191256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C4464"/>
                </a:solidFill>
                <a:latin typeface="Consola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31736" y="317296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EE7DD"/>
                </a:solidFill>
                <a:latin typeface="微软雅黑"/>
              </a:rPr>
              <a:t>三章场景高概念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1736" y="3529584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8A93A6"/>
                </a:solidFill>
                <a:latin typeface="微软雅黑"/>
              </a:rPr>
              <a:t>黄泉线 / 百鬼市 / 阴司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14800"/>
            <a:ext cx="5166360" cy="896112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8368" y="4114800"/>
            <a:ext cx="38100" cy="896112"/>
          </a:xfrm>
          <a:prstGeom prst="rect">
            <a:avLst/>
          </a:prstGeom>
          <a:solidFill>
            <a:srgbClr val="B47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7824" y="42519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B47FE8"/>
                </a:solidFill>
                <a:latin typeface="Consola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23367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EE7DD"/>
                </a:solidFill>
                <a:latin typeface="微软雅黑"/>
              </a:rPr>
              <a:t>角色与怪物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4590288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8A93A6"/>
                </a:solidFill>
                <a:latin typeface="微软雅黑"/>
              </a:rPr>
              <a:t>四职业配比 · 1/3/6 格体型的视觉承载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0488" y="4114800"/>
            <a:ext cx="5166360" cy="896112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90488" y="4114800"/>
            <a:ext cx="38100" cy="896112"/>
          </a:xfrm>
          <a:prstGeom prst="rect">
            <a:avLst/>
          </a:prstGeom>
          <a:solidFill>
            <a:srgbClr val="7FA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9944" y="42519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7FA8D9"/>
                </a:solidFill>
                <a:latin typeface="Consolas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31736" y="423367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EE7DD"/>
                </a:solidFill>
                <a:latin typeface="微软雅黑"/>
              </a:rPr>
              <a:t>战场与 Tile 规范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31736" y="4590288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8A93A6"/>
                </a:solidFill>
                <a:latin typeface="微软雅黑"/>
              </a:rPr>
              <a:t>128px 尖顶六边形 · R1–R9 可读性硬规则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175504"/>
            <a:ext cx="5166360" cy="896112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58368" y="5175504"/>
            <a:ext cx="38100" cy="896112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7824" y="5312664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3B30"/>
                </a:solidFill>
                <a:latin typeface="Consolas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9616" y="529437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EE7DD"/>
                </a:solidFill>
                <a:latin typeface="微软雅黑"/>
              </a:rPr>
              <a:t>腐蚀度视觉表达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99616" y="5650992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8A93A6"/>
                </a:solidFill>
                <a:latin typeface="微软雅黑"/>
              </a:rPr>
              <a:t>一张底图 + 三组贴花 + 四档后处理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0488" y="5175504"/>
            <a:ext cx="5166360" cy="896112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90488" y="5175504"/>
            <a:ext cx="38100" cy="896112"/>
          </a:xfrm>
          <a:prstGeom prst="rect">
            <a:avLst/>
          </a:prstGeom>
          <a:solidFill>
            <a:srgbClr val="FFC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9944" y="5312664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C94D"/>
                </a:solidFill>
                <a:latin typeface="Consolas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31736" y="529437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EE7DD"/>
                </a:solidFill>
                <a:latin typeface="微软雅黑"/>
              </a:rPr>
              <a:t>红线 · M0 清单 · 待决项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31736" y="5650992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8A93A6"/>
                </a:solidFill>
                <a:latin typeface="微软雅黑"/>
              </a:rPr>
              <a:t>明确不做什么 + 怎么验收 + A1–A8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2B1C"/>
                </a:solidFill>
                <a:latin typeface="微软雅黑"/>
              </a:rPr>
              <a:t>01 · 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76072"/>
            <a:ext cx="98755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 dirty="0">
                <a:solidFill>
                  <a:srgbClr val="EEE7DD"/>
                </a:solidFill>
                <a:latin typeface="微软雅黑"/>
              </a:rPr>
              <a:t>L0 </a:t>
            </a:r>
            <a:r>
              <a:rPr sz="2800" b="1" i="0" dirty="0" err="1">
                <a:solidFill>
                  <a:srgbClr val="EEE7DD"/>
                </a:solidFill>
                <a:latin typeface="微软雅黑"/>
              </a:rPr>
              <a:t>总方向</a:t>
            </a:r>
            <a:r>
              <a:rPr sz="2800" b="1" i="0" dirty="0">
                <a:solidFill>
                  <a:srgbClr val="EEE7DD"/>
                </a:solidFill>
                <a:latin typeface="微软雅黑"/>
              </a:rPr>
              <a:t> </a:t>
            </a:r>
            <a:r>
              <a:rPr sz="2800" b="1" i="0" dirty="0" err="1">
                <a:solidFill>
                  <a:srgbClr val="EEE7DD"/>
                </a:solidFill>
                <a:latin typeface="微软雅黑"/>
              </a:rPr>
              <a:t>Moodboard</a:t>
            </a:r>
            <a:r>
              <a:rPr sz="2800" b="1" i="0" dirty="0">
                <a:solidFill>
                  <a:srgbClr val="EEE7DD"/>
                </a:solidFill>
                <a:latin typeface="微软雅黑"/>
              </a:rPr>
              <a:t>：</a:t>
            </a:r>
            <a:r>
              <a:rPr lang="zh-CN" altLang="en-US" sz="2800" b="1" i="0" dirty="0">
                <a:solidFill>
                  <a:srgbClr val="EEE7DD"/>
                </a:solidFill>
                <a:latin typeface="微软雅黑"/>
              </a:rPr>
              <a:t>现代城市 </a:t>
            </a:r>
            <a:r>
              <a:rPr lang="en-US" altLang="zh-CN" sz="2800" b="1" i="0" dirty="0">
                <a:solidFill>
                  <a:srgbClr val="EEE7DD"/>
                </a:solidFill>
                <a:latin typeface="微软雅黑"/>
              </a:rPr>
              <a:t>+ </a:t>
            </a:r>
            <a:r>
              <a:rPr lang="zh-CN" altLang="en-US" sz="2800" b="1" i="0" dirty="0">
                <a:solidFill>
                  <a:srgbClr val="EEE7DD"/>
                </a:solidFill>
                <a:latin typeface="微软雅黑"/>
              </a:rPr>
              <a:t>东方怪谈</a:t>
            </a:r>
            <a:endParaRPr sz="2800" b="1" i="0" dirty="0">
              <a:solidFill>
                <a:srgbClr val="EEE7DD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152144"/>
            <a:ext cx="548640" cy="4064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A93A6"/>
                </a:solidFill>
                <a:latin typeface="微软雅黑"/>
              </a:rPr>
              <a:t>它已经完成了它的工作 —— 定基调、对外沟通、外包首页。后续所有资产以它为准，不再改它。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8251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6476"/>
                </a:solidFill>
                <a:latin typeface="微软雅黑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9404E"/>
                </a:solidFill>
                <a:latin typeface="微软雅黑"/>
              </a:rPr>
              <a:t>《（暂名）Hex Spire》 美术高概念 v0.1</a:t>
            </a:r>
          </a:p>
        </p:txBody>
      </p:sp>
      <p:pic>
        <p:nvPicPr>
          <p:cNvPr id="9" name="Picture 8" descr="img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74519"/>
            <a:ext cx="7360920" cy="41422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1874519"/>
            <a:ext cx="7360920" cy="4142232"/>
          </a:xfrm>
          <a:prstGeom prst="rect">
            <a:avLst/>
          </a:prstGeom>
          <a:noFill/>
          <a:ln w="12700">
            <a:solidFill>
              <a:srgbClr val="262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874519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C94D"/>
                </a:solidFill>
                <a:latin typeface="微软雅黑"/>
              </a:rPr>
              <a:t>L0 已锁定的五件事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24028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6D0409"/>
                </a:solidFill>
                <a:latin typeface="微软雅黑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2402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EEE7DD"/>
                </a:solidFill>
                <a:latin typeface="微软雅黑"/>
              </a:rPr>
              <a:t>主色三元：夜蓝 / 靛紫 + 朱红 + 香灰白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42616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6D0409"/>
                </a:solidFill>
                <a:latin typeface="微软雅黑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64261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EEE7DD"/>
                </a:solidFill>
                <a:latin typeface="微软雅黑"/>
              </a:rPr>
              <a:t>剪影 + 氛围光（背光 / 逆光为主）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044952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6D0409"/>
                </a:solidFill>
                <a:latin typeface="微软雅黑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0449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EEE7DD"/>
                </a:solidFill>
                <a:latin typeface="微软雅黑"/>
              </a:rPr>
              <a:t>高对比、低中间调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447288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6D0409"/>
                </a:solidFill>
                <a:latin typeface="微软雅黑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44728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EEE7DD"/>
                </a:solidFill>
                <a:latin typeface="微软雅黑"/>
              </a:rPr>
              <a:t>东方符号作为点缀，而非主体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849624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6D0409"/>
                </a:solidFill>
                <a:latin typeface="微软雅黑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84962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EEE7DD"/>
                </a:solidFill>
                <a:latin typeface="微软雅黑"/>
              </a:rPr>
              <a:t>情绪四词：诡谲 / 压迫 / 孤独 / 神秘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3434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3B30"/>
                </a:solidFill>
                <a:latin typeface="微软雅黑"/>
              </a:rPr>
              <a:t>但 L0 不足以开工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681728"/>
            <a:ext cx="331012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150" b="0" i="0">
                <a:solidFill>
                  <a:srgbClr val="8A93A6"/>
                </a:solidFill>
                <a:latin typeface="微软雅黑"/>
              </a:rPr>
              <a:t>L0 解决的是“这个游戏长什么样”。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150" b="0" i="0">
                <a:solidFill>
                  <a:srgbClr val="8A93A6"/>
                </a:solidFill>
                <a:latin typeface="微软雅黑"/>
              </a:rPr>
              <a:t>开工还缺 </a:t>
            </a:r>
            <a:r>
              <a:rPr sz="1150" b="1" i="0">
                <a:solidFill>
                  <a:srgbClr val="EEE7DD"/>
                </a:solidFill>
                <a:latin typeface="微软雅黑"/>
              </a:rPr>
              <a:t>7 张 L1 moodboard</a:t>
            </a:r>
            <a:r>
              <a:rPr sz="1150" b="0" i="0">
                <a:solidFill>
                  <a:srgbClr val="8A93A6"/>
                </a:solidFill>
                <a:latin typeface="微软雅黑"/>
              </a:rPr>
              <a:t>（MB-01~07）。其中 </a:t>
            </a:r>
            <a:r>
              <a:rPr sz="1150" b="1" i="0">
                <a:solidFill>
                  <a:srgbClr val="3DD6D0"/>
                </a:solidFill>
                <a:latin typeface="微软雅黑"/>
              </a:rPr>
              <a:t>MB-03 战斗可读性</a:t>
            </a:r>
            <a:r>
              <a:rPr sz="1150" b="0" i="0">
                <a:solidFill>
                  <a:srgbClr val="8A93A6"/>
                </a:solidFill>
                <a:latin typeface="微软雅黑"/>
              </a:rPr>
              <a:t> 最容易被跳过，也最不该跳过 —— 其他 moodboard 教美术“怎么变好看”，只有它教美术“怎么别挡住玩家”。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2B1C"/>
                </a:solidFill>
                <a:latin typeface="微软雅黑"/>
              </a:rPr>
              <a:t>01 · 支柱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76072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EE7DD"/>
                </a:solidFill>
                <a:latin typeface="微软雅黑"/>
              </a:rPr>
              <a:t>三大美术支柱：优先级是硬的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52144"/>
            <a:ext cx="548640" cy="4064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A93A6"/>
                </a:solidFill>
                <a:latin typeface="微软雅黑"/>
              </a:rPr>
              <a:t>当氛围与可读性冲突时（一定会冲突），永远牺牲氛围。这是 45 分钟一局、要玩几百小时的肉鸽，不是一次性的恐怖体验。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8251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6476"/>
                </a:solidFill>
                <a:latin typeface="微软雅黑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9404E"/>
                </a:solidFill>
                <a:latin typeface="微软雅黑"/>
              </a:rPr>
              <a:t>《（暂名）Hex Spire》 美术高概念 v0.1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103120"/>
            <a:ext cx="3456432" cy="324612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103120"/>
            <a:ext cx="3456432" cy="44450"/>
          </a:xfrm>
          <a:prstGeom prst="rect">
            <a:avLst/>
          </a:prstGeom>
          <a:solidFill>
            <a:srgbClr val="6C4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28600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6C4464"/>
                </a:solidFill>
                <a:latin typeface="Consolas"/>
              </a:rPr>
              <a:t>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39572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EEE7DD"/>
                </a:solidFill>
                <a:latin typeface="微软雅黑"/>
              </a:rPr>
              <a:t>日常的可信度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97180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EEE7DD"/>
                </a:solidFill>
                <a:latin typeface="微软雅黑"/>
              </a:rPr>
              <a:t>城市部分必须写实、有生活垢、有年代感。城市不可信 → 异常不恐怖。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4041648"/>
            <a:ext cx="2999232" cy="8890"/>
          </a:xfrm>
          <a:prstGeom prst="rect">
            <a:avLst/>
          </a:prstGeom>
          <a:solidFill>
            <a:srgbClr val="262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4187952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C94D"/>
                </a:solidFill>
                <a:latin typeface="微软雅黑"/>
              </a:rPr>
              <a:t>做完了怎么验收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443984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 i="0">
                <a:solidFill>
                  <a:srgbClr val="8A93A6"/>
                </a:solidFill>
                <a:latin typeface="微软雅黑"/>
              </a:rPr>
              <a:t>任何一张场景图，遮住异常元素后，应该像一张普通的城市夜景照片。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4255" y="2103120"/>
            <a:ext cx="3456432" cy="324612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34255" y="2103120"/>
            <a:ext cx="3456432" cy="44450"/>
          </a:xfrm>
          <a:prstGeom prst="rect">
            <a:avLst/>
          </a:prstGeom>
          <a:solidFill>
            <a:srgbClr val="8A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1999" y="228600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8A2B1C"/>
                </a:solidFill>
                <a:latin typeface="Consolas"/>
              </a:rPr>
              <a:t>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2975" y="239572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EEE7DD"/>
                </a:solidFill>
                <a:latin typeface="微软雅黑"/>
              </a:rPr>
              <a:t>异常的克制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297180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EEE7DD"/>
                </a:solidFill>
                <a:latin typeface="微软雅黑"/>
              </a:rPr>
              <a:t>每个画面的“不对劲”控制在 1–3 处，且必须是逻辑错误而非血浆。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1999" y="4041648"/>
            <a:ext cx="2999232" cy="8890"/>
          </a:xfrm>
          <a:prstGeom prst="rect">
            <a:avLst/>
          </a:prstGeom>
          <a:solidFill>
            <a:srgbClr val="262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1999" y="4187952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C94D"/>
                </a:solidFill>
                <a:latin typeface="微软雅黑"/>
              </a:rPr>
              <a:t>做完了怎么验收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4443984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 i="0">
                <a:solidFill>
                  <a:srgbClr val="8A93A6"/>
                </a:solidFill>
                <a:latin typeface="微软雅黑"/>
              </a:rPr>
              <a:t>每张场景图能明确列出异常清单，条目数 ≤3。数不出来、或数出 8 条 = 不合格。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0142" y="2103120"/>
            <a:ext cx="3456432" cy="324612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10142" y="2103120"/>
            <a:ext cx="3456432" cy="44450"/>
          </a:xfrm>
          <a:prstGeom prst="rect">
            <a:avLst/>
          </a:prstGeom>
          <a:solidFill>
            <a:srgbClr val="3D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47886" y="228600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3DD6D0"/>
                </a:solidFill>
                <a:latin typeface="Consolas"/>
              </a:rPr>
              <a:t>V3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2" y="239572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EEE7DD"/>
                </a:solidFill>
                <a:latin typeface="微软雅黑"/>
              </a:rPr>
              <a:t>战斗的可读性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6" y="297180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EEE7DD"/>
                </a:solidFill>
                <a:latin typeface="微软雅黑"/>
              </a:rPr>
              <a:t>战斗中氛围让位于信息。玩家必须 0.5 秒内读出：谁在哪、占几格、朝哪、下回合要干什么。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47886" y="4041648"/>
            <a:ext cx="2999232" cy="8890"/>
          </a:xfrm>
          <a:prstGeom prst="rect">
            <a:avLst/>
          </a:prstGeom>
          <a:solidFill>
            <a:srgbClr val="262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47886" y="4187952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C94D"/>
                </a:solidFill>
                <a:latin typeface="微软雅黑"/>
              </a:rPr>
              <a:t>做完了怎么验收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6" y="4443984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 i="0">
                <a:solidFill>
                  <a:srgbClr val="8A93A6"/>
                </a:solidFill>
                <a:latin typeface="微软雅黑"/>
              </a:rPr>
              <a:t>把画面降到 25% 缩略图，仍能分清己方 / 敌方 / 危害格 / 体型轮廓。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596128"/>
            <a:ext cx="10874959" cy="566928"/>
          </a:xfrm>
          <a:prstGeom prst="rect">
            <a:avLst/>
          </a:prstGeom>
          <a:solidFill>
            <a:srgbClr val="1E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8368" y="5596128"/>
            <a:ext cx="44450" cy="566928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5705856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8A93A6"/>
                </a:solidFill>
                <a:latin typeface="微软雅黑"/>
              </a:rPr>
              <a:t>优先级： </a:t>
            </a:r>
            <a:r>
              <a:rPr sz="1350" b="1" i="0">
                <a:solidFill>
                  <a:srgbClr val="3DD6D0"/>
                </a:solidFill>
                <a:latin typeface="微软雅黑"/>
              </a:rPr>
              <a:t>V3 可读性</a:t>
            </a:r>
            <a:r>
              <a:rPr sz="1350" b="0" i="0">
                <a:solidFill>
                  <a:srgbClr val="5B6476"/>
                </a:solidFill>
                <a:latin typeface="微软雅黑"/>
              </a:rPr>
              <a:t>  &gt;  </a:t>
            </a:r>
            <a:r>
              <a:rPr sz="1350" b="1" i="0">
                <a:solidFill>
                  <a:srgbClr val="6C4464"/>
                </a:solidFill>
                <a:latin typeface="微软雅黑"/>
              </a:rPr>
              <a:t>V1 可信度</a:t>
            </a:r>
            <a:r>
              <a:rPr sz="1350" b="0" i="0">
                <a:solidFill>
                  <a:srgbClr val="5B6476"/>
                </a:solidFill>
                <a:latin typeface="微软雅黑"/>
              </a:rPr>
              <a:t>  &gt;  </a:t>
            </a:r>
            <a:r>
              <a:rPr sz="1350" b="1" i="0">
                <a:solidFill>
                  <a:srgbClr val="8A2B1C"/>
                </a:solidFill>
                <a:latin typeface="微软雅黑"/>
              </a:rPr>
              <a:t>V2 克制</a:t>
            </a:r>
            <a:r>
              <a:rPr sz="1350" b="0" i="0">
                <a:solidFill>
                  <a:srgbClr val="8A93A6"/>
                </a:solidFill>
                <a:latin typeface="微软雅黑"/>
              </a:rPr>
              <a:t>      冲突时的处理不是“折中”，而是“牺牲氛围”。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2B1C"/>
                </a:solidFill>
                <a:latin typeface="微软雅黑"/>
              </a:rPr>
              <a:t>02 · 公式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76072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EE7DD"/>
                </a:solidFill>
                <a:latin typeface="微软雅黑"/>
              </a:rPr>
              <a:t>核心转译公式：怪谈是怎么长在城市里的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52144"/>
            <a:ext cx="548640" cy="4064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A93A6"/>
                </a:solidFill>
                <a:latin typeface="微软雅黑"/>
              </a:rPr>
              <a:t>所有场景与怪物设计都走同一个公式。这是最需要被外包和 AI 生成理解的一节。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8251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6476"/>
                </a:solidFill>
                <a:latin typeface="微软雅黑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9404E"/>
                </a:solidFill>
                <a:latin typeface="微软雅黑"/>
              </a:rPr>
              <a:t>《（暂名）Hex Spire》 美术高概念 v0.1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38528"/>
            <a:ext cx="7882127" cy="868680"/>
          </a:xfrm>
          <a:prstGeom prst="rect">
            <a:avLst/>
          </a:prstGeom>
          <a:solidFill>
            <a:srgbClr val="18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21284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EE7DD"/>
                </a:solidFill>
                <a:latin typeface="微软雅黑"/>
              </a:rPr>
              <a:t>怪谈元素 =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47088" y="2157984"/>
            <a:ext cx="1572768" cy="438912"/>
          </a:xfrm>
          <a:prstGeom prst="rect">
            <a:avLst/>
          </a:prstGeom>
          <a:noFill/>
          <a:ln w="13970">
            <a:solidFill>
              <a:srgbClr val="6C4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47088" y="2267712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6C4464"/>
                </a:solidFill>
                <a:latin typeface="微软雅黑"/>
              </a:rPr>
              <a:t>【传统母题】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2212848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B6476"/>
                </a:solidFill>
                <a:latin typeface="微软雅黑"/>
              </a:rPr>
              <a:t>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4176" y="2157984"/>
            <a:ext cx="1901952" cy="438912"/>
          </a:xfrm>
          <a:prstGeom prst="rect">
            <a:avLst/>
          </a:prstGeom>
          <a:noFill/>
          <a:ln w="13970">
            <a:solidFill>
              <a:srgbClr val="7FA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94176" y="2267712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7FA8D9"/>
                </a:solidFill>
                <a:latin typeface="微软雅黑"/>
              </a:rPr>
              <a:t>【现代城市载体】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2212848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B6476"/>
                </a:solidFill>
                <a:latin typeface="微软雅黑"/>
              </a:rPr>
              <a:t>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70448" y="2157984"/>
            <a:ext cx="2267712" cy="438912"/>
          </a:xfrm>
          <a:prstGeom prst="rect">
            <a:avLst/>
          </a:prstGeom>
          <a:noFill/>
          <a:ln w="1397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70448" y="2267712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3B30"/>
                </a:solidFill>
                <a:latin typeface="微软雅黑"/>
              </a:rPr>
              <a:t>【一处日常逻辑错误】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0175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3B30"/>
                </a:solidFill>
                <a:latin typeface="微软雅黑"/>
              </a:rPr>
              <a:t>缺【传统母题】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301752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A93A6"/>
                </a:solidFill>
                <a:latin typeface="微软雅黑"/>
              </a:rPr>
              <a:t>→ 变成普通都市废墟 / 克苏鲁，失去“东方”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4015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3B30"/>
                </a:solidFill>
                <a:latin typeface="微软雅黑"/>
              </a:rPr>
              <a:t>缺【现代城市载体】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8648" y="3401568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A93A6"/>
                </a:solidFill>
                <a:latin typeface="微软雅黑"/>
              </a:rPr>
              <a:t>→ 变成古风灵异，失去“现代”，也失去玩家的代入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78561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3B30"/>
                </a:solidFill>
                <a:latin typeface="微软雅黑"/>
              </a:rPr>
              <a:t>缺【日常逻辑错误】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8648" y="3785616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A93A6"/>
                </a:solidFill>
                <a:latin typeface="微软雅黑"/>
              </a:rPr>
              <a:t>→ 变成美术堆料，玩家只觉得“红红的挺好看”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315968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C94D"/>
                </a:solidFill>
                <a:latin typeface="微软雅黑"/>
              </a:rPr>
              <a:t>转译词表节选（完整 16 条见文档 §2.1，持续扩充）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645152"/>
            <a:ext cx="7882127" cy="301752"/>
          </a:xfrm>
          <a:prstGeom prst="rect">
            <a:avLst/>
          </a:prstGeom>
          <a:solidFill>
            <a:srgbClr val="1D2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" y="4704588"/>
            <a:ext cx="140817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C94D"/>
                </a:solidFill>
                <a:latin typeface="微软雅黑"/>
              </a:rPr>
              <a:t>传统母题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13432" y="4704588"/>
            <a:ext cx="177393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C94D"/>
                </a:solidFill>
                <a:latin typeface="微软雅黑"/>
              </a:rPr>
              <a:t>现代城市载体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2" y="4704588"/>
            <a:ext cx="323697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C94D"/>
                </a:solidFill>
                <a:latin typeface="微软雅黑"/>
              </a:rPr>
              <a:t>日常逻辑错误（异常点）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6952" y="4704588"/>
            <a:ext cx="87782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C94D"/>
                </a:solidFill>
                <a:latin typeface="微软雅黑"/>
              </a:rPr>
              <a:t>用在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946904"/>
            <a:ext cx="7882127" cy="301752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4946904"/>
            <a:ext cx="7882127" cy="7620"/>
          </a:xfrm>
          <a:prstGeom prst="rect">
            <a:avLst/>
          </a:prstGeom>
          <a:solidFill>
            <a:srgbClr val="262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" y="5001768"/>
            <a:ext cx="140817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EEE7DD"/>
                </a:solidFill>
                <a:latin typeface="微软雅黑"/>
              </a:rPr>
              <a:t>走无常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13432" y="5001768"/>
            <a:ext cx="177393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末班车司机 / 安检员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33672" y="5001768"/>
            <a:ext cx="323697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制服正确、工牌正确，但没有影子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6952" y="5001768"/>
            <a:ext cx="87782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黄泉线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48656"/>
            <a:ext cx="7882127" cy="7620"/>
          </a:xfrm>
          <a:prstGeom prst="rect">
            <a:avLst/>
          </a:prstGeom>
          <a:solidFill>
            <a:srgbClr val="262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8952" y="5303520"/>
            <a:ext cx="140817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EEE7DD"/>
                </a:solidFill>
                <a:latin typeface="微软雅黑"/>
              </a:rPr>
              <a:t>纸扎（纸马纸屋）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13432" y="5303520"/>
            <a:ext cx="177393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商场家电区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33672" y="5303520"/>
            <a:ext cx="323697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冰箱电视是纸糊的，纸马停在扭蛋机旁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16952" y="5303520"/>
            <a:ext cx="87782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百鬼市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550408"/>
            <a:ext cx="7882127" cy="301752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58368" y="5550408"/>
            <a:ext cx="7882127" cy="7620"/>
          </a:xfrm>
          <a:prstGeom prst="rect">
            <a:avLst/>
          </a:prstGeom>
          <a:solidFill>
            <a:srgbClr val="262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8952" y="5605272"/>
            <a:ext cx="140817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EEE7DD"/>
                </a:solidFill>
                <a:latin typeface="微软雅黑"/>
              </a:rPr>
              <a:t>冥币面额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13432" y="5605272"/>
            <a:ext cx="177393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价签 / 促销吊旗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33672" y="5605272"/>
            <a:ext cx="323697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单位不是元，是“年”（用寿命付账）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16952" y="5605272"/>
            <a:ext cx="87782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百鬼市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5852160"/>
            <a:ext cx="7882127" cy="7620"/>
          </a:xfrm>
          <a:prstGeom prst="rect">
            <a:avLst/>
          </a:prstGeom>
          <a:solidFill>
            <a:srgbClr val="262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58952" y="5907024"/>
            <a:ext cx="140817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EEE7DD"/>
                </a:solidFill>
                <a:latin typeface="微软雅黑"/>
              </a:rPr>
              <a:t>孟婆汤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13432" y="5907024"/>
            <a:ext cx="177393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医院配药窗口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33672" y="5907024"/>
            <a:ext cx="323697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药袋上没有药名，只有一个“忘”字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6952" y="5907024"/>
            <a:ext cx="87782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阴司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32520" y="1938528"/>
            <a:ext cx="2798064" cy="4224528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732520" y="1938528"/>
            <a:ext cx="2798064" cy="38100"/>
          </a:xfrm>
          <a:prstGeom prst="rect">
            <a:avLst/>
          </a:prstGeom>
          <a:solidFill>
            <a:srgbClr val="FFC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951976" y="213969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C94D"/>
                </a:solidFill>
                <a:latin typeface="微软雅黑"/>
              </a:rPr>
              <a:t>使用规则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51976" y="250545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C94D"/>
                </a:solidFill>
                <a:latin typeface="微软雅黑"/>
              </a:rPr>
              <a:t>1.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2505456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EE7DD"/>
                </a:solidFill>
                <a:latin typeface="微软雅黑"/>
              </a:rPr>
              <a:t>一个房间最多用 3 条。用满 6 条不是恐怖，是杂货铺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51976" y="316382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C94D"/>
                </a:solidFill>
                <a:latin typeface="微软雅黑"/>
              </a:rPr>
              <a:t>2.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9720" y="3163824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EE7DD"/>
                </a:solidFill>
                <a:latin typeface="微软雅黑"/>
              </a:rPr>
              <a:t>同一条在同一章内最多复用 2 次，第三次必须换载体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51976" y="382219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C94D"/>
                </a:solidFill>
                <a:latin typeface="微软雅黑"/>
              </a:rPr>
              <a:t>3.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9720" y="3822192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EE7DD"/>
                </a:solidFill>
                <a:latin typeface="微软雅黑"/>
              </a:rPr>
              <a:t>每条都要能“遮住即消失”—— 异常必须是可移除的图层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51976" y="4553712"/>
            <a:ext cx="2377440" cy="8890"/>
          </a:xfrm>
          <a:prstGeom prst="rect">
            <a:avLst/>
          </a:prstGeom>
          <a:solidFill>
            <a:srgbClr val="262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951976" y="4718304"/>
            <a:ext cx="239572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1" i="0">
                <a:solidFill>
                  <a:srgbClr val="3DD6D0"/>
                </a:solidFill>
                <a:latin typeface="微软雅黑"/>
              </a:rPr>
              <a:t>第 3 点是省钱的关键：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微软雅黑"/>
              </a:rPr>
              <a:t>底图（城市）一张，异常图层按腐蚀度分 3 档叠加。同一个房间在腐蚀度 1 和 7 下看起来是两个地方，但美术只画了一张底图 + 三组贴花。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2B1C"/>
                </a:solidFill>
                <a:latin typeface="微软雅黑"/>
              </a:rPr>
              <a:t>03 · 色彩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76072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EE7DD"/>
                </a:solidFill>
                <a:latin typeface="微软雅黑"/>
              </a:rPr>
              <a:t>全局色板：从 L0 实测采样，非估值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52144"/>
            <a:ext cx="548640" cy="4064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A93A6"/>
                </a:solidFill>
                <a:latin typeface="微软雅黑"/>
              </a:rPr>
              <a:t>每章换色相，不换明度结构。明度结构（暗底 + 极少高光）全局统一 —— 这是画面能一眼认出是同一个游戏的原因。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8251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6476"/>
                </a:solidFill>
                <a:latin typeface="微软雅黑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9404E"/>
                </a:solidFill>
                <a:latin typeface="微软雅黑"/>
              </a:rPr>
              <a:t>《（暂名）Hex Spire》 美术高概念 v0.1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65960"/>
            <a:ext cx="896112" cy="713232"/>
          </a:xfrm>
          <a:prstGeom prst="rect">
            <a:avLst/>
          </a:prstGeom>
          <a:solidFill>
            <a:srgbClr val="0B0C17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2734056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EEE7DD"/>
                </a:solidFill>
                <a:latin typeface="微软雅黑"/>
              </a:rPr>
              <a:t>墨夜蓝 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89504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A93A6"/>
                </a:solidFill>
                <a:latin typeface="Consolas"/>
              </a:rPr>
              <a:t>#0B0C17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035808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B6476"/>
                </a:solidFill>
                <a:latin typeface="微软雅黑"/>
              </a:rPr>
              <a:t>35–45%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4091" y="1965960"/>
            <a:ext cx="896112" cy="713232"/>
          </a:xfrm>
          <a:prstGeom prst="rect">
            <a:avLst/>
          </a:prstGeom>
          <a:solidFill>
            <a:srgbClr val="131A23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4091" y="2734056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EEE7DD"/>
                </a:solidFill>
                <a:latin typeface="微软雅黑"/>
              </a:rPr>
              <a:t>夜青 NIGHT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4091" y="2889504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A93A6"/>
                </a:solidFill>
                <a:latin typeface="Consolas"/>
              </a:rPr>
              <a:t>#131A23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4091" y="3035808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B6476"/>
                </a:solidFill>
                <a:latin typeface="微软雅黑"/>
              </a:rPr>
              <a:t>15–20%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29814" y="1965960"/>
            <a:ext cx="896112" cy="713232"/>
          </a:xfrm>
          <a:prstGeom prst="rect">
            <a:avLst/>
          </a:prstGeom>
          <a:solidFill>
            <a:srgbClr val="2D3949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29814" y="2734056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EEE7DD"/>
                </a:solidFill>
                <a:latin typeface="微软雅黑"/>
              </a:rPr>
              <a:t>钢灰蓝 STEEL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9814" y="2889504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A93A6"/>
                </a:solidFill>
                <a:latin typeface="Consolas"/>
              </a:rPr>
              <a:t>#2D3949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9814" y="3035808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B6476"/>
                </a:solidFill>
                <a:latin typeface="微软雅黑"/>
              </a:rPr>
              <a:t>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5537" y="1965960"/>
            <a:ext cx="896112" cy="713232"/>
          </a:xfrm>
          <a:prstGeom prst="rect">
            <a:avLst/>
          </a:prstGeom>
          <a:solidFill>
            <a:srgbClr val="3D2B45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15537" y="2734056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EEE7DD"/>
                </a:solidFill>
                <a:latin typeface="微软雅黑"/>
              </a:rPr>
              <a:t>靛紫 INDIGO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5537" y="2889504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A93A6"/>
                </a:solidFill>
                <a:latin typeface="Consolas"/>
              </a:rPr>
              <a:t>#3D2B45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5537" y="3035808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B6476"/>
                </a:solidFill>
                <a:latin typeface="微软雅黑"/>
              </a:rPr>
              <a:t>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01260" y="1965960"/>
            <a:ext cx="896112" cy="713232"/>
          </a:xfrm>
          <a:prstGeom prst="rect">
            <a:avLst/>
          </a:prstGeom>
          <a:solidFill>
            <a:srgbClr val="6C4464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01260" y="2734056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EEE7DD"/>
                </a:solidFill>
                <a:latin typeface="微软雅黑"/>
              </a:rPr>
              <a:t>幽紫 LILAC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1260" y="2889504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A93A6"/>
                </a:solidFill>
                <a:latin typeface="Consolas"/>
              </a:rPr>
              <a:t>#6C4464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1260" y="3035808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B6476"/>
                </a:solidFill>
                <a:latin typeface="微软雅黑"/>
              </a:rPr>
              <a:t>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86983" y="1965960"/>
            <a:ext cx="896112" cy="713232"/>
          </a:xfrm>
          <a:prstGeom prst="rect">
            <a:avLst/>
          </a:prstGeom>
          <a:solidFill>
            <a:srgbClr val="EEE7DD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86983" y="2734056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EEE7DD"/>
                </a:solidFill>
                <a:latin typeface="微软雅黑"/>
              </a:rPr>
              <a:t>香灰白 ASH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86983" y="2889504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A93A6"/>
                </a:solidFill>
                <a:latin typeface="Consolas"/>
              </a:rPr>
              <a:t>#EEE7DD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86983" y="3035808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B6476"/>
                </a:solidFill>
                <a:latin typeface="微软雅黑"/>
              </a:rPr>
              <a:t>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72706" y="1965960"/>
            <a:ext cx="896112" cy="713232"/>
          </a:xfrm>
          <a:prstGeom prst="rect">
            <a:avLst/>
          </a:prstGeom>
          <a:solidFill>
            <a:srgbClr val="6D0409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72706" y="2734056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EEE7DD"/>
                </a:solidFill>
                <a:latin typeface="微软雅黑"/>
              </a:rPr>
              <a:t>朱红 VERM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2706" y="2889504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A93A6"/>
                </a:solidFill>
                <a:latin typeface="Consolas"/>
              </a:rPr>
              <a:t>#6D0409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72706" y="3035808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B6476"/>
                </a:solidFill>
                <a:latin typeface="微软雅黑"/>
              </a:rPr>
              <a:t>≤3%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58429" y="1965960"/>
            <a:ext cx="896112" cy="713232"/>
          </a:xfrm>
          <a:prstGeom prst="rect">
            <a:avLst/>
          </a:prstGeom>
          <a:solidFill>
            <a:srgbClr val="8A2B1C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58429" y="2734056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EEE7DD"/>
                </a:solidFill>
                <a:latin typeface="微软雅黑"/>
              </a:rPr>
              <a:t>灯笼橙红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58429" y="2889504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A93A6"/>
                </a:solidFill>
                <a:latin typeface="Consolas"/>
              </a:rPr>
              <a:t>#8A2B1C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58429" y="3035808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B6476"/>
                </a:solidFill>
                <a:latin typeface="微软雅黑"/>
              </a:rPr>
              <a:t>≤3%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72706" y="1965960"/>
            <a:ext cx="896112" cy="713232"/>
          </a:xfrm>
          <a:prstGeom prst="rect">
            <a:avLst/>
          </a:prstGeom>
          <a:noFill/>
          <a:ln w="22225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" y="3529584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C94D"/>
                </a:solidFill>
                <a:latin typeface="微软雅黑"/>
              </a:rPr>
              <a:t>分章色板：换色相，不换明度结构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3858768"/>
            <a:ext cx="7863840" cy="676656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4672" y="394106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EE7DD"/>
                </a:solidFill>
                <a:latin typeface="微软雅黑"/>
              </a:rPr>
              <a:t>第一章 · 地铁 · 黄泉线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" y="4224528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C4464"/>
                </a:solidFill>
                <a:latin typeface="微软雅黑"/>
              </a:rPr>
              <a:t>靛蓝 → 紫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35808" y="4014216"/>
            <a:ext cx="365760" cy="365760"/>
          </a:xfrm>
          <a:prstGeom prst="rect">
            <a:avLst/>
          </a:prstGeom>
          <a:solidFill>
            <a:srgbClr val="0B0C17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438144" y="4014216"/>
            <a:ext cx="365760" cy="365760"/>
          </a:xfrm>
          <a:prstGeom prst="rect">
            <a:avLst/>
          </a:prstGeom>
          <a:solidFill>
            <a:srgbClr val="292F4C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840480" y="4014216"/>
            <a:ext cx="365760" cy="365760"/>
          </a:xfrm>
          <a:prstGeom prst="rect">
            <a:avLst/>
          </a:prstGeom>
          <a:solidFill>
            <a:srgbClr val="311726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242816" y="4014216"/>
            <a:ext cx="365760" cy="365760"/>
          </a:xfrm>
          <a:prstGeom prst="rect">
            <a:avLst/>
          </a:prstGeom>
          <a:solidFill>
            <a:srgbClr val="5F4E73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645152" y="4014216"/>
            <a:ext cx="365760" cy="365760"/>
          </a:xfrm>
          <a:prstGeom prst="rect">
            <a:avLst/>
          </a:prstGeom>
          <a:solidFill>
            <a:srgbClr val="B19CB8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138928" y="3950208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8A93A6"/>
                </a:solidFill>
                <a:latin typeface="微软雅黑"/>
              </a:rPr>
              <a:t>冷白荧光管 + 单点朱红应急灯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13448" y="3950208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FFC94D"/>
                </a:solidFill>
                <a:latin typeface="微软雅黑"/>
              </a:rPr>
              <a:t>又冷又空，只有你一个人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4636008"/>
            <a:ext cx="7863840" cy="676656"/>
          </a:xfrm>
          <a:prstGeom prst="rect">
            <a:avLst/>
          </a:prstGeom>
          <a:solidFill>
            <a:srgbClr val="0E1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4672" y="471830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EE7DD"/>
                </a:solidFill>
                <a:latin typeface="微软雅黑"/>
              </a:rPr>
              <a:t>第二章 · 商场 · 百鬼市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" y="5001768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C4464"/>
                </a:solidFill>
                <a:latin typeface="微软雅黑"/>
              </a:rPr>
              <a:t>暗红褐 → 暖橙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35808" y="4791456"/>
            <a:ext cx="365760" cy="365760"/>
          </a:xfrm>
          <a:prstGeom prst="rect">
            <a:avLst/>
          </a:prstGeom>
          <a:solidFill>
            <a:srgbClr val="181012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438144" y="4791456"/>
            <a:ext cx="365760" cy="365760"/>
          </a:xfrm>
          <a:prstGeom prst="rect">
            <a:avLst/>
          </a:prstGeom>
          <a:solidFill>
            <a:srgbClr val="391A1A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840480" y="4791456"/>
            <a:ext cx="365760" cy="365760"/>
          </a:xfrm>
          <a:prstGeom prst="rect">
            <a:avLst/>
          </a:prstGeom>
          <a:solidFill>
            <a:srgbClr val="563C42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242816" y="4791456"/>
            <a:ext cx="365760" cy="365760"/>
          </a:xfrm>
          <a:prstGeom prst="rect">
            <a:avLst/>
          </a:prstGeom>
          <a:solidFill>
            <a:srgbClr val="836065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645152" y="4791456"/>
            <a:ext cx="365760" cy="365760"/>
          </a:xfrm>
          <a:prstGeom prst="rect">
            <a:avLst/>
          </a:prstGeom>
          <a:solidFill>
            <a:srgbClr val="C3A8AA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38928" y="4727448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8A93A6"/>
                </a:solidFill>
                <a:latin typeface="微软雅黑"/>
              </a:rPr>
              <a:t>大量灯笼暖光 + 冷蓝阴影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13448" y="4727448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FFC94D"/>
                </a:solidFill>
                <a:latin typeface="微软雅黑"/>
              </a:rPr>
              <a:t>热闹得不正常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5413248"/>
            <a:ext cx="7863840" cy="676656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04672" y="549554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EE7DD"/>
                </a:solidFill>
                <a:latin typeface="微软雅黑"/>
              </a:rPr>
              <a:t>终章 · 医院 · 阴司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2" y="5779008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C4464"/>
                </a:solidFill>
                <a:latin typeface="微软雅黑"/>
              </a:rPr>
              <a:t>青灰 → 冷绿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35808" y="5568696"/>
            <a:ext cx="365760" cy="365760"/>
          </a:xfrm>
          <a:prstGeom prst="rect">
            <a:avLst/>
          </a:prstGeom>
          <a:solidFill>
            <a:srgbClr val="050D13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438144" y="5568696"/>
            <a:ext cx="365760" cy="365760"/>
          </a:xfrm>
          <a:prstGeom prst="rect">
            <a:avLst/>
          </a:prstGeom>
          <a:solidFill>
            <a:srgbClr val="0B1E28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840480" y="5568696"/>
            <a:ext cx="365760" cy="365760"/>
          </a:xfrm>
          <a:prstGeom prst="rect">
            <a:avLst/>
          </a:prstGeom>
          <a:solidFill>
            <a:srgbClr val="263B48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242816" y="5568696"/>
            <a:ext cx="365760" cy="365760"/>
          </a:xfrm>
          <a:prstGeom prst="rect">
            <a:avLst/>
          </a:prstGeom>
          <a:solidFill>
            <a:srgbClr val="415D6F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4645152" y="5568696"/>
            <a:ext cx="365760" cy="365760"/>
          </a:xfrm>
          <a:prstGeom prst="rect">
            <a:avLst/>
          </a:prstGeom>
          <a:solidFill>
            <a:srgbClr val="88A4B4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138928" y="5504688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8A93A6"/>
                </a:solidFill>
                <a:latin typeface="微软雅黑"/>
              </a:rPr>
              <a:t>全冷光、无暖色、无阴影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13448" y="5504688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FFC94D"/>
                </a:solidFill>
                <a:latin typeface="微软雅黑"/>
              </a:rPr>
              <a:t>干净、明亮、没有一点人味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732520" y="1965960"/>
            <a:ext cx="2798064" cy="2121408"/>
          </a:xfrm>
          <a:prstGeom prst="rect">
            <a:avLst/>
          </a:prstGeom>
          <a:solidFill>
            <a:srgbClr val="1E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732520" y="1965960"/>
            <a:ext cx="2798064" cy="3810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933688" y="2157984"/>
            <a:ext cx="2432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3B30"/>
                </a:solidFill>
                <a:latin typeface="微软雅黑"/>
              </a:rPr>
              <a:t>朱红 3% 上限是硬约束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33688" y="2505456"/>
            <a:ext cx="2432304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微软雅黑"/>
              </a:rPr>
              <a:t>L0 里红看起来很多，因为它是一张宣传图（红在小图里抓眼）。实际场景里红一旦超过 5%，两件事同时发生：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① 恐怖感变成廉价的血腥感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② 红作为“伤害 / 危险”的 UI 功能色彻底失效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32520" y="4261104"/>
            <a:ext cx="2798064" cy="1901952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732520" y="4261104"/>
            <a:ext cx="2798064" cy="38100"/>
          </a:xfrm>
          <a:prstGeom prst="rect">
            <a:avLst/>
          </a:prstGeom>
          <a:solidFill>
            <a:srgbClr val="3D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933688" y="4443984"/>
            <a:ext cx="2432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3DD6D0"/>
                </a:solidFill>
                <a:latin typeface="微软雅黑"/>
              </a:rPr>
              <a:t>终章的反差设计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33688" y="4773168"/>
            <a:ext cx="243230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微软雅黑"/>
              </a:rPr>
              <a:t>前两章靠“暗”制造恐怖，终章靠“太亮太干净”。医院是唯一照明充足、几乎没有暗部、完全禁用暖色的章节。玩家在前 6 层学会“暗处有东西”，第三章突然没有暗处，反而更慌 —— 且不加一分资产量。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2B1C"/>
                </a:solidFill>
                <a:latin typeface="微软雅黑"/>
              </a:rPr>
              <a:t>03 · 色彩 · 可读性地基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76072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EE7DD"/>
                </a:solidFill>
                <a:latin typeface="微软雅黑"/>
              </a:rPr>
              <a:t>必须先解决的冲突：红色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52144"/>
            <a:ext cx="548640" cy="4064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A93A6"/>
                </a:solidFill>
                <a:latin typeface="微软雅黑"/>
              </a:rPr>
              <a:t>本项目的氛围色是朱红（灯笼、符纸、安全线），而战棋的危险色也是红（伤害、敌方、非法落点）。二者同屏必然干扰。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8251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6476"/>
                </a:solidFill>
                <a:latin typeface="微软雅黑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9404E"/>
                </a:solidFill>
                <a:latin typeface="微软雅黑"/>
              </a:rPr>
              <a:t>《（暂名）Hex Spire》 美术高概念 v0.1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11680"/>
            <a:ext cx="5257800" cy="2286000"/>
          </a:xfrm>
          <a:prstGeom prst="rect">
            <a:avLst/>
          </a:prstGeom>
          <a:solidFill>
            <a:srgbClr val="140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011680"/>
            <a:ext cx="5257800" cy="3810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128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2B1C"/>
                </a:solidFill>
                <a:latin typeface="微软雅黑"/>
              </a:rPr>
              <a:t>场景红 · 装饰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578608"/>
            <a:ext cx="1371600" cy="914400"/>
          </a:xfrm>
          <a:prstGeom prst="rect">
            <a:avLst/>
          </a:prstGeom>
          <a:solidFill>
            <a:srgbClr val="6D0409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41448" y="2633472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500" b="1" i="0">
                <a:solidFill>
                  <a:srgbClr val="EEE7DD"/>
                </a:solidFill>
                <a:latin typeface="Consolas"/>
              </a:rPr>
              <a:t>#6D0409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150" b="0" i="0">
                <a:solidFill>
                  <a:srgbClr val="8A93A6"/>
                </a:solidFill>
                <a:latin typeface="微软雅黑"/>
              </a:rPr>
              <a:t>色相 357°  ·  饱和 96%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150" b="1" i="0">
                <a:solidFill>
                  <a:srgbClr val="FFC94D"/>
                </a:solidFill>
                <a:latin typeface="微软雅黑"/>
              </a:rPr>
              <a:t>明度 43%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 i="0">
                <a:solidFill>
                  <a:srgbClr val="8A93A6"/>
                </a:solidFill>
                <a:latin typeface="微软雅黑"/>
              </a:rPr>
              <a:t>压暗、不动的红 = 装饰。灯笼、符纸、安全线、朱批。场景红明度上限 45%。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462272"/>
            <a:ext cx="5257800" cy="1700784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" y="4462272"/>
            <a:ext cx="5257800" cy="3810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6451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3B30"/>
                </a:solidFill>
                <a:latin typeface="微软雅黑"/>
              </a:rPr>
              <a:t>UI 红 · 威胁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992624"/>
            <a:ext cx="1371600" cy="640080"/>
          </a:xfrm>
          <a:prstGeom prst="rect">
            <a:avLst/>
          </a:prstGeom>
          <a:solidFill>
            <a:srgbClr val="FF3B30"/>
          </a:solidFill>
          <a:ln w="12700">
            <a:solidFill>
              <a:srgbClr val="2C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41448" y="4974336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500" b="1" i="0">
                <a:solidFill>
                  <a:srgbClr val="EEE7DD"/>
                </a:solidFill>
                <a:latin typeface="Consolas"/>
              </a:rPr>
              <a:t>#FF3B30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150" b="0" i="0">
                <a:solidFill>
                  <a:srgbClr val="8A93A6"/>
                </a:solidFill>
                <a:latin typeface="微软雅黑"/>
              </a:rPr>
              <a:t>色相 3°  ·  饱和 81%  ·  </a:t>
            </a:r>
            <a:r>
              <a:rPr sz="1150" b="1" i="0">
                <a:solidFill>
                  <a:srgbClr val="FFC94D"/>
                </a:solidFill>
                <a:latin typeface="微软雅黑"/>
              </a:rPr>
              <a:t>明度 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424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8A93A6"/>
                </a:solidFill>
                <a:latin typeface="微软雅黑"/>
              </a:rPr>
              <a:t>明亮、会动的红 = 威胁。伤害、敌方、非法落点、危害格。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011680"/>
            <a:ext cx="52120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两者色相几乎相同，饱和度也都很高 —— 唯一的分野是“暗 vs 亮”。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150" b="0" i="0">
                <a:solidFill>
                  <a:srgbClr val="8A93A6"/>
                </a:solidFill>
                <a:latin typeface="微软雅黑"/>
              </a:rPr>
              <a:t>所以给外包的指令必须是「场景红要压暗（V≤45%），UI 红要拉亮（V=100%）」，不是「场景红要降饱和」。降饱和只会得到发灰的脏红，既不好看，也依然会与 UI 红混淆。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054096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C94D"/>
                </a:solidFill>
                <a:latin typeface="微软雅黑"/>
              </a:rPr>
              <a:t>功能色（UI 专用，任何场景不得占用）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401568"/>
            <a:ext cx="310896" cy="292608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29984" y="344728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EE7DD"/>
                </a:solidFill>
                <a:latin typeface="Consolas"/>
              </a:rPr>
              <a:t>FN_DANGER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447288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Consolas"/>
              </a:rPr>
              <a:t>#FF3B30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447288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伤害 / 危险 / 敌方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785616"/>
            <a:ext cx="310896" cy="292608"/>
          </a:xfrm>
          <a:prstGeom prst="rect">
            <a:avLst/>
          </a:prstGeom>
          <a:solidFill>
            <a:srgbClr val="3D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29984" y="383133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EE7DD"/>
                </a:solidFill>
                <a:latin typeface="Consolas"/>
              </a:rPr>
              <a:t>FN_ALLY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831336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Consolas"/>
              </a:rPr>
              <a:t>#3DD6D0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831336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可移动 / 己方 / 合法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169664"/>
            <a:ext cx="310896" cy="292608"/>
          </a:xfrm>
          <a:prstGeom prst="rect">
            <a:avLst/>
          </a:prstGeom>
          <a:solidFill>
            <a:srgbClr val="7FA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29984" y="4215384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EE7DD"/>
                </a:solidFill>
                <a:latin typeface="Consolas"/>
              </a:rPr>
              <a:t>FN_BLOCK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215384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Consolas"/>
              </a:rPr>
              <a:t>#7FA8D9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421538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格挡 / 防御（仅数值与图标）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553712"/>
            <a:ext cx="310896" cy="292608"/>
          </a:xfrm>
          <a:prstGeom prst="rect">
            <a:avLst/>
          </a:prstGeom>
          <a:solidFill>
            <a:srgbClr val="FFC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9984" y="459943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EE7DD"/>
                </a:solidFill>
                <a:latin typeface="Consolas"/>
              </a:rPr>
              <a:t>FN_GOLD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599432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Consolas"/>
              </a:rPr>
              <a:t>#FFC94D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459943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暴击 / 稀有 / 奖励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937760"/>
            <a:ext cx="310896" cy="292608"/>
          </a:xfrm>
          <a:prstGeom prst="rect">
            <a:avLst/>
          </a:prstGeom>
          <a:solidFill>
            <a:srgbClr val="B47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29984" y="4983480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EE7DD"/>
                </a:solidFill>
                <a:latin typeface="Consolas"/>
              </a:rPr>
              <a:t>FN_RUNE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4983480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Consolas"/>
              </a:rPr>
              <a:t>#B47FE8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4983480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符文 / 规则改写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5321808"/>
            <a:ext cx="310896" cy="292608"/>
          </a:xfrm>
          <a:prstGeom prst="rect">
            <a:avLst/>
          </a:prstGeom>
          <a:solidFill>
            <a:srgbClr val="6ED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29984" y="536752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EE7DD"/>
                </a:solidFill>
                <a:latin typeface="Consolas"/>
              </a:rPr>
              <a:t>FN_HEAL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2440" y="5367528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Consolas"/>
              </a:rPr>
              <a:t>#6ED89A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5367528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治疗（仅数值与图标）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5760720"/>
            <a:ext cx="5212080" cy="402336"/>
          </a:xfrm>
          <a:prstGeom prst="rect">
            <a:avLst/>
          </a:prstGeom>
          <a:solidFill>
            <a:srgbClr val="0A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309360" y="5760720"/>
            <a:ext cx="38100" cy="402336"/>
          </a:xfrm>
          <a:prstGeom prst="rect">
            <a:avLst/>
          </a:prstGeom>
          <a:solidFill>
            <a:srgbClr val="3D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92240" y="585216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A93A6"/>
                </a:solidFill>
                <a:latin typeface="微软雅黑"/>
              </a:rPr>
              <a:t>地面高亮层只允许两色：</a:t>
            </a:r>
            <a:r>
              <a:rPr sz="1150" b="1" i="0">
                <a:solidFill>
                  <a:srgbClr val="3DD6D0"/>
                </a:solidFill>
                <a:latin typeface="微软雅黑"/>
              </a:rPr>
              <a:t>青蓝 = 合法/己方</a:t>
            </a:r>
            <a:r>
              <a:rPr sz="1150" b="0" i="0">
                <a:solidFill>
                  <a:srgbClr val="5B6476"/>
                </a:solidFill>
                <a:latin typeface="微软雅黑"/>
              </a:rPr>
              <a:t> · </a:t>
            </a:r>
            <a:r>
              <a:rPr sz="1150" b="1" i="0">
                <a:solidFill>
                  <a:srgbClr val="FF3B30"/>
                </a:solidFill>
                <a:latin typeface="微软雅黑"/>
              </a:rPr>
              <a:t>亮红 = 危险/非法</a:t>
            </a:r>
            <a:r>
              <a:rPr sz="1150" b="0" i="0">
                <a:solidFill>
                  <a:srgbClr val="8A93A6"/>
                </a:solidFill>
                <a:latin typeface="微软雅黑"/>
              </a:rPr>
              <a:t>。其余功能色只上 UI。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g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160520"/>
            <a:ext cx="12191695" cy="269748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g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4663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g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6C4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310896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6C4464"/>
                </a:solidFill>
                <a:latin typeface="微软雅黑"/>
              </a:rPr>
              <a:t>04 · 场景 · 第一章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EEE7DD"/>
                </a:solidFill>
                <a:latin typeface="微软雅黑"/>
              </a:rPr>
              <a:t>地铁 · 黄泉线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603504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50" b="0" i="0">
                <a:solidFill>
                  <a:srgbClr val="6C4464"/>
                </a:solidFill>
                <a:latin typeface="微软雅黑"/>
              </a:rPr>
              <a:t>「通往未知的末班车，永远到不了终点。」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38251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6476"/>
                </a:solidFill>
                <a:latin typeface="微软雅黑"/>
              </a:rPr>
              <a:t>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334256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C94D"/>
                </a:solidFill>
                <a:latin typeface="微软雅黑"/>
              </a:rPr>
              <a:t>一句话美术目标：</a:t>
            </a:r>
            <a:r>
              <a:rPr sz="1200" b="0" i="0">
                <a:solidFill>
                  <a:srgbClr val="EEE7DD"/>
                </a:solidFill>
                <a:latin typeface="微软雅黑"/>
              </a:rPr>
              <a:t>拍一张真实的凌晨三点地铁站照片，然后只改三样东西。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718304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A93A6"/>
                </a:solidFill>
                <a:latin typeface="微软雅黑"/>
              </a:rPr>
              <a:t>P0 异常元素（每战场取 2–3 条，至少 1 条 P0）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029200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C4464"/>
                </a:solidFill>
                <a:latin typeface="微软雅黑"/>
              </a:rPr>
              <a:t>站名牌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3664" y="5029200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微软雅黑"/>
              </a:rPr>
              <a:t>站名逐层变成生僻字，终章层空白；拼音始终正常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29437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C4464"/>
                </a:solidFill>
                <a:latin typeface="微软雅黑"/>
              </a:rPr>
              <a:t>线路图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3664" y="5294376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微软雅黑"/>
              </a:rPr>
              <a:t>线是闭环，没有终点站；末端站点朱红圆点正在渗色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59552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C4464"/>
                </a:solidFill>
                <a:latin typeface="微软雅黑"/>
              </a:rPr>
              <a:t>地面安全线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83664" y="5559552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微软雅黑"/>
              </a:rPr>
              <a:t>黄线变朱红，线内侧是旧式青砖（两个年代的地面拼在一起）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824728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C4464"/>
                </a:solidFill>
                <a:latin typeface="微软雅黑"/>
              </a:rPr>
              <a:t>应急指示灯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83664" y="5824728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微软雅黑"/>
              </a:rPr>
              <a:t>所有箭头指同一方向，且指向隧道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089904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C4464"/>
                </a:solidFill>
                <a:latin typeface="微软雅黑"/>
              </a:rPr>
              <a:t>乘客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83664" y="6089904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微软雅黑"/>
              </a:rPr>
              <a:t>无脸；影子方向与光源不符；低头看灭屏的手机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37083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93A6"/>
                </a:solidFill>
                <a:latin typeface="微软雅黑"/>
              </a:rPr>
              <a:t>空间类型 → 体型系统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68172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EE7DD"/>
                </a:solidFill>
                <a:latin typeface="微软雅黑"/>
              </a:rPr>
              <a:t>站台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85546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开阔长条，6 格 Boss 主战场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065776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C94D"/>
                </a:solidFill>
                <a:latin typeface="微软雅黑"/>
              </a:rPr>
              <a:t>车厢内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23951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狭长单行道 ⭐ 巨人的舞台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449824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EE7DD"/>
                </a:solidFill>
                <a:latin typeface="微软雅黑"/>
              </a:rPr>
              <a:t>隧道 / 检修通道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623560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窄 + 分叉，视线阻断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833872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EE7DD"/>
                </a:solidFill>
                <a:latin typeface="微软雅黑"/>
              </a:rPr>
              <a:t>闸机厅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600760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闸机 = 可破坏掩体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15400" y="4315968"/>
            <a:ext cx="2615184" cy="1783080"/>
          </a:xfrm>
          <a:prstGeom prst="rect">
            <a:avLst/>
          </a:prstGeom>
          <a:solidFill>
            <a:srgbClr val="10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915400" y="4315968"/>
            <a:ext cx="2615184" cy="31750"/>
          </a:xfrm>
          <a:prstGeom prst="rect">
            <a:avLst/>
          </a:prstGeom>
          <a:solidFill>
            <a:srgbClr val="6C4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98280" y="44805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6C4464"/>
                </a:solidFill>
                <a:latin typeface="微软雅黑"/>
              </a:rPr>
              <a:t>Tile 集需求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4773168"/>
            <a:ext cx="22860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 i="0">
                <a:solidFill>
                  <a:srgbClr val="EEE7DD"/>
                </a:solidFill>
                <a:latin typeface="微软雅黑"/>
              </a:rPr>
              <a:t>约 7 种地形 tile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地砖（干/湿）· 盲道 · 站台边缘+朱红线 · 车厢地板 · 轨道 · 格栅 · 楼梯口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 i="0">
                <a:solidFill>
                  <a:srgbClr val="FF3B30"/>
                </a:solidFill>
                <a:latin typeface="微软雅黑"/>
              </a:rPr>
              <a:t>+ 3 种危害 tile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轨道 / 漏电 / 裂缝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g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6634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g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663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g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8A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310896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2B1C"/>
                </a:solidFill>
                <a:latin typeface="微软雅黑"/>
              </a:rPr>
              <a:t>04 · 场景 · 第二章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EEE7DD"/>
                </a:solidFill>
                <a:latin typeface="微软雅黑"/>
              </a:rPr>
              <a:t>商场 · 百鬼市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603504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50" b="0" i="0">
                <a:solidFill>
                  <a:srgbClr val="8A2B1C"/>
                </a:solidFill>
                <a:latin typeface="微软雅黑"/>
              </a:rPr>
              <a:t>「凌晨三点营业的商场，售卖着非人的商品。」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38251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6476"/>
                </a:solidFill>
                <a:latin typeface="微软雅黑"/>
              </a:rPr>
              <a:t>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590288"/>
            <a:ext cx="53949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 i="0">
                <a:solidFill>
                  <a:srgbClr val="EEE7DD"/>
                </a:solidFill>
                <a:latin typeface="微软雅黑"/>
              </a:rPr>
              <a:t>第一章是“空得不对”，第二章是“热闹得不对”。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8A93A6"/>
                </a:solidFill>
                <a:latin typeface="微软雅黑"/>
              </a:rPr>
              <a:t>灯全亮、音乐在放、店都开着，但客人不是人。全游戏视觉密度最高的一章。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1937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93A6"/>
                </a:solidFill>
                <a:latin typeface="微软雅黑"/>
              </a:rPr>
              <a:t>P0 异常元素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486400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8A2B1C"/>
                </a:solidFill>
                <a:latin typeface="微软雅黑"/>
              </a:rPr>
              <a:t>楼层索引牌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3664" y="548640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出现 -1F 阴货、4F、13F；楼层数不连续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742432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8A2B1C"/>
                </a:solidFill>
                <a:latin typeface="微软雅黑"/>
              </a:rPr>
              <a:t>扶梯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3664" y="5742432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只上不下；或两条都在上升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98464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8A2B1C"/>
                </a:solidFill>
                <a:latin typeface="微软雅黑"/>
              </a:rPr>
              <a:t>店员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83664" y="5998464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纸人：纸扎竹骨穿着正确制服，工号写在符纸上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25449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8A2B1C"/>
                </a:solidFill>
                <a:latin typeface="微软雅黑"/>
              </a:rPr>
              <a:t>家电区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83664" y="6254496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纸糊的冰箱电视，带正常品牌 logo（材质错位代表作）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510528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8A2B1C"/>
                </a:solidFill>
                <a:latin typeface="微软雅黑"/>
              </a:rPr>
              <a:t>价签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83664" y="6510528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单位是“年”；促销写“买一送一，寿限自理”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535424"/>
            <a:ext cx="2286000" cy="1737360"/>
          </a:xfrm>
          <a:prstGeom prst="rect">
            <a:avLst/>
          </a:prstGeom>
          <a:solidFill>
            <a:srgbClr val="1A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92240" y="4535424"/>
            <a:ext cx="2286000" cy="31750"/>
          </a:xfrm>
          <a:prstGeom prst="rect">
            <a:avLst/>
          </a:prstGeom>
          <a:solidFill>
            <a:srgbClr val="FFC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470001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C94D"/>
                </a:solidFill>
                <a:latin typeface="微软雅黑"/>
              </a:rPr>
              <a:t>复用红利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974336"/>
            <a:ext cx="195681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 i="0">
                <a:solidFill>
                  <a:srgbClr val="EEE7DD"/>
                </a:solidFill>
                <a:latin typeface="微软雅黑"/>
              </a:rPr>
              <a:t>货架 · 模特 · 桌椅 · 吊灯笼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四类 prop 组合出全部店铺。区别靠贴图与 prop 组合，不靠新建资产。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4535424"/>
            <a:ext cx="2523744" cy="1737360"/>
          </a:xfrm>
          <a:prstGeom prst="rect">
            <a:avLst/>
          </a:prstGeom>
          <a:solidFill>
            <a:srgbClr val="1A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06840" y="4535424"/>
            <a:ext cx="2523744" cy="31750"/>
          </a:xfrm>
          <a:prstGeom prst="rect">
            <a:avLst/>
          </a:prstGeom>
          <a:solidFill>
            <a:srgbClr val="8A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89720" y="470001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2B1C"/>
                </a:solidFill>
                <a:latin typeface="微软雅黑"/>
              </a:rPr>
              <a:t>空间与机制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4974336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i="0">
                <a:solidFill>
                  <a:srgbClr val="EEE7DD"/>
                </a:solidFill>
                <a:latin typeface="微软雅黑"/>
              </a:rPr>
              <a:t>中庭</a:t>
            </a:r>
            <a:r>
              <a:rPr sz="1000" b="0" i="0">
                <a:solidFill>
                  <a:srgbClr val="8A93A6"/>
                </a:solidFill>
                <a:latin typeface="微软雅黑"/>
              </a:rPr>
              <a:t> 6 格 Boss 主场、纵深最强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i="0">
                <a:solidFill>
                  <a:srgbClr val="FFC94D"/>
                </a:solidFill>
                <a:latin typeface="微软雅黑"/>
              </a:rPr>
              <a:t>扶梯 / 天井边缘</a:t>
            </a:r>
            <a:r>
              <a:rPr sz="1000" b="0" i="0">
                <a:solidFill>
                  <a:srgbClr val="8A93A6"/>
                </a:solidFill>
                <a:latin typeface="微软雅黑"/>
              </a:rPr>
              <a:t> ⭐ 推拉机制的舞台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i="0">
                <a:solidFill>
                  <a:srgbClr val="EEE7DD"/>
                </a:solidFill>
                <a:latin typeface="微软雅黑"/>
              </a:rPr>
              <a:t>后场通道</a:t>
            </a:r>
            <a:r>
              <a:rPr sz="1000" b="0" i="0">
                <a:solidFill>
                  <a:srgbClr val="8A93A6"/>
                </a:solidFill>
                <a:latin typeface="微软雅黑"/>
              </a:rPr>
              <a:t> 冷光、无装饰 —— “后台没有伪装”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2B1C"/>
                </a:solidFill>
                <a:latin typeface="微软雅黑"/>
              </a:rPr>
              <a:t>04 · 场景 · 终章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76072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EE7DD"/>
                </a:solidFill>
                <a:latin typeface="微软雅黑"/>
              </a:rPr>
              <a:t>终章 · 医院 · 阴司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52144"/>
            <a:ext cx="548640" cy="4064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A93A6"/>
                </a:solidFill>
                <a:latin typeface="微软雅黑"/>
              </a:rPr>
              <a:t>「白天是医院，夜晚是阴间的入口。」唯一一个明亮、干净、没有暗部的章节 —— 恐怖来自“过于正常”。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8251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6476"/>
                </a:solidFill>
                <a:latin typeface="微软雅黑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9404E"/>
                </a:solidFill>
                <a:latin typeface="微软雅黑"/>
              </a:rPr>
              <a:t>《（暂名）Hex Spire》 美术高概念 v0.1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29968"/>
            <a:ext cx="5166360" cy="694944"/>
          </a:xfrm>
          <a:prstGeom prst="rect">
            <a:avLst/>
          </a:prstGeom>
          <a:solidFill>
            <a:srgbClr val="0B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029968"/>
            <a:ext cx="31750" cy="694944"/>
          </a:xfrm>
          <a:prstGeom prst="rect">
            <a:avLst/>
          </a:prstGeom>
          <a:solidFill>
            <a:srgbClr val="88A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12140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8A4B4"/>
                </a:solidFill>
                <a:latin typeface="微软雅黑"/>
              </a:rPr>
              <a:t>照明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2112264"/>
            <a:ext cx="391363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全冷白荧光，均匀铺满，几乎没有阴影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2029968"/>
            <a:ext cx="5166360" cy="694944"/>
          </a:xfrm>
          <a:prstGeom prst="rect">
            <a:avLst/>
          </a:prstGeom>
          <a:solidFill>
            <a:srgbClr val="0B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0488" y="2029968"/>
            <a:ext cx="31750" cy="694944"/>
          </a:xfrm>
          <a:prstGeom prst="rect">
            <a:avLst/>
          </a:prstGeom>
          <a:solidFill>
            <a:srgbClr val="88A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9944" y="212140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8A4B4"/>
                </a:solidFill>
                <a:latin typeface="微软雅黑"/>
              </a:rPr>
              <a:t>暖色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2112264"/>
            <a:ext cx="391363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完全禁用。没有灯笼、没有朱红灯；唯一的红是朱批与“急”字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871216"/>
            <a:ext cx="5166360" cy="694944"/>
          </a:xfrm>
          <a:prstGeom prst="rect">
            <a:avLst/>
          </a:prstGeom>
          <a:solidFill>
            <a:srgbClr val="0B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2871216"/>
            <a:ext cx="31750" cy="694944"/>
          </a:xfrm>
          <a:prstGeom prst="rect">
            <a:avLst/>
          </a:prstGeom>
          <a:solidFill>
            <a:srgbClr val="88A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296265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8A4B4"/>
                </a:solidFill>
                <a:latin typeface="微软雅黑"/>
              </a:rPr>
              <a:t>材质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" y="2953512"/>
            <a:ext cx="391363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全新、无垢、反光。走廊地板刚打过蜡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2871216"/>
            <a:ext cx="5166360" cy="694944"/>
          </a:xfrm>
          <a:prstGeom prst="rect">
            <a:avLst/>
          </a:prstGeom>
          <a:solidFill>
            <a:srgbClr val="0B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0488" y="2871216"/>
            <a:ext cx="31750" cy="694944"/>
          </a:xfrm>
          <a:prstGeom prst="rect">
            <a:avLst/>
          </a:prstGeom>
          <a:solidFill>
            <a:srgbClr val="88A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9944" y="296265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8A4B4"/>
                </a:solidFill>
                <a:latin typeface="微软雅黑"/>
              </a:rPr>
              <a:t>异常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7768" y="2953512"/>
            <a:ext cx="391363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更少、更精准（每战场 1–2 条），且全部是文字与数字的错误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85876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C94D"/>
                </a:solidFill>
                <a:latin typeface="微软雅黑"/>
              </a:rPr>
              <a:t>关键视觉元素：全部是文字与数字的错误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224528"/>
            <a:ext cx="2542032" cy="621792"/>
          </a:xfrm>
          <a:prstGeom prst="rect">
            <a:avLst/>
          </a:prstGeom>
          <a:solidFill>
            <a:srgbClr val="09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429768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叫号屏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54456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在叫还没出生的号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4224528"/>
            <a:ext cx="2542032" cy="621792"/>
          </a:xfrm>
          <a:prstGeom prst="rect">
            <a:avLst/>
          </a:prstGeom>
          <a:solidFill>
            <a:srgbClr val="09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9584" y="429768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床位牌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9584" y="454456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入院与“回家”是同一天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4224528"/>
            <a:ext cx="2542032" cy="621792"/>
          </a:xfrm>
          <a:prstGeom prst="rect">
            <a:avLst/>
          </a:prstGeom>
          <a:solidFill>
            <a:srgbClr val="09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54496" y="429768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药袋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4496" y="454456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无药名，只有一个“忘”字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33104" y="4224528"/>
            <a:ext cx="2542032" cy="621792"/>
          </a:xfrm>
          <a:prstGeom prst="rect">
            <a:avLst/>
          </a:prstGeom>
          <a:solidFill>
            <a:srgbClr val="09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79408" y="429768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病历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9408" y="454456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朱批字迹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974336"/>
            <a:ext cx="2542032" cy="621792"/>
          </a:xfrm>
          <a:prstGeom prst="rect">
            <a:avLst/>
          </a:prstGeom>
          <a:solidFill>
            <a:srgbClr val="09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504748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太平间推床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5294376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停在走廊中央，被单下有形状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0" y="4974336"/>
            <a:ext cx="2542032" cy="621792"/>
          </a:xfrm>
          <a:prstGeom prst="rect">
            <a:avLst/>
          </a:prstGeom>
          <a:solidFill>
            <a:srgbClr val="09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29584" y="504748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候诊椅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9584" y="5294376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坐满，全部低头，没有一个抬头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4974336"/>
            <a:ext cx="2542032" cy="621792"/>
          </a:xfrm>
          <a:prstGeom prst="rect">
            <a:avLst/>
          </a:prstGeom>
          <a:solidFill>
            <a:srgbClr val="09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54496" y="504748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消防疏散图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4496" y="5294376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图上的楼层平面不是这一层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5724144"/>
            <a:ext cx="10874959" cy="457200"/>
          </a:xfrm>
          <a:prstGeom prst="rect">
            <a:avLst/>
          </a:prstGeom>
          <a:solidFill>
            <a:srgbClr val="0B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58368" y="5724144"/>
            <a:ext cx="38100" cy="457200"/>
          </a:xfrm>
          <a:prstGeom prst="rect">
            <a:avLst/>
          </a:prstGeom>
          <a:solidFill>
            <a:srgbClr val="3D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77824" y="58155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DD6D0"/>
                </a:solidFill>
                <a:latin typeface="微软雅黑"/>
              </a:rPr>
              <a:t>资产量最省的一章</a:t>
            </a:r>
            <a:r>
              <a:rPr sz="1200" b="0" i="0">
                <a:solidFill>
                  <a:srgbClr val="8A93A6"/>
                </a:solidFill>
                <a:latin typeface="微软雅黑"/>
              </a:rPr>
              <a:t>（约 5 种 tile + 2 种危害）—— 干净 = 细节少。这也是把终章放在最后的另一个理由：排期最紧的时候做资产量最小的一章。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2B1C"/>
                </a:solidFill>
                <a:latin typeface="微软雅黑"/>
              </a:rPr>
              <a:t>05 · 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76072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EE7DD"/>
                </a:solidFill>
                <a:latin typeface="微软雅黑"/>
              </a:rPr>
              <a:t>四职业：现代身份 × 传统力量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52144"/>
            <a:ext cx="548640" cy="4064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A93A6"/>
                </a:solidFill>
                <a:latin typeface="微软雅黑"/>
              </a:rPr>
              <a:t>每个角色都必须一眼看出“是现代人”。传统力量必须表现为“外挂”而非“自带”—— 符纸是贴上去的、法器是拿在手里的。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8251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6476"/>
                </a:solidFill>
                <a:latin typeface="微软雅黑"/>
              </a:rPr>
              <a:t>10</a:t>
            </a:r>
          </a:p>
        </p:txBody>
      </p:sp>
      <p:pic>
        <p:nvPicPr>
          <p:cNvPr id="8" name="Picture 7" descr="img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01952"/>
            <a:ext cx="10872216" cy="23957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1901952"/>
            <a:ext cx="10872216" cy="2395728"/>
          </a:xfrm>
          <a:prstGeom prst="rect">
            <a:avLst/>
          </a:prstGeom>
          <a:noFill/>
          <a:ln w="12700">
            <a:solidFill>
              <a:srgbClr val="262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4498848"/>
            <a:ext cx="2560320" cy="1664208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4498848"/>
            <a:ext cx="2560320" cy="3810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46268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EEE7DD"/>
                </a:solidFill>
                <a:latin typeface="微软雅黑"/>
              </a:rPr>
              <a:t>镇邪者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93776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D0409"/>
                </a:solidFill>
                <a:latin typeface="微软雅黑"/>
              </a:rPr>
              <a:t>骑士 · 1 格 · 坦克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175504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异常事件处理员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41324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C94D"/>
                </a:solidFill>
                <a:latin typeface="Consolas"/>
              </a:rPr>
              <a:t>现代 70 / 传统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65099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8A93A6"/>
                </a:solidFill>
                <a:latin typeface="微软雅黑"/>
              </a:rPr>
              <a:t>战术背心 + 防爆盾（盾面是符板）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4498848"/>
            <a:ext cx="2560320" cy="1664208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01568" y="4498848"/>
            <a:ext cx="2560320" cy="38100"/>
          </a:xfrm>
          <a:prstGeom prst="rect">
            <a:avLst/>
          </a:prstGeom>
          <a:solidFill>
            <a:srgbClr val="2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84448" y="46268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EEE7DD"/>
                </a:solidFill>
                <a:latin typeface="微软雅黑"/>
              </a:rPr>
              <a:t>方士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493776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7FA8D9"/>
                </a:solidFill>
                <a:latin typeface="微软雅黑"/>
              </a:rPr>
              <a:t>法师 · 1 格 · 组合技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5175504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民俗研究员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4448" y="541324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C94D"/>
                </a:solidFill>
                <a:latin typeface="Consolas"/>
              </a:rPr>
              <a:t>现代 60 / 传统 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565099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8A93A6"/>
                </a:solidFill>
                <a:latin typeface="微软雅黑"/>
              </a:rPr>
              <a:t>白大褂 / 风衣 + 罗盘 · 线装书 · 符笔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4498848"/>
            <a:ext cx="2560320" cy="1664208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44768" y="4498848"/>
            <a:ext cx="2560320" cy="38100"/>
          </a:xfrm>
          <a:prstGeom prst="rect">
            <a:avLst/>
          </a:prstGeom>
          <a:solidFill>
            <a:srgbClr val="6C4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27648" y="46268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EEE7DD"/>
                </a:solidFill>
                <a:latin typeface="微软雅黑"/>
              </a:rPr>
              <a:t>御灵者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493776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C4464"/>
                </a:solidFill>
                <a:latin typeface="微软雅黑"/>
              </a:rPr>
              <a:t>弓箭手 · 1 格 · 风筝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5175504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灵异调查者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541324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C94D"/>
                </a:solidFill>
                <a:latin typeface="Consolas"/>
              </a:rPr>
              <a:t>现代 80 / 传统 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565099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8A93A6"/>
                </a:solidFill>
                <a:latin typeface="微软雅黑"/>
              </a:rPr>
              <a:t>手机 / 相机（当作法器）· 耳机 · 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4498848"/>
            <a:ext cx="2560320" cy="1664208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887968" y="4498848"/>
            <a:ext cx="2560320" cy="3810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70848" y="46268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EEE7DD"/>
                </a:solidFill>
                <a:latin typeface="微软雅黑"/>
              </a:rPr>
              <a:t>妖化者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0848" y="493776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3B30"/>
                </a:solidFill>
                <a:latin typeface="微软雅黑"/>
              </a:rPr>
              <a:t>巨人 · 3 格 · 地形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5175504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异常感染者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0848" y="541324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C94D"/>
                </a:solidFill>
                <a:latin typeface="Consolas"/>
              </a:rPr>
              <a:t>现代 40 / 传统 60 · 非人 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565099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8A93A6"/>
                </a:solidFill>
                <a:latin typeface="微软雅黑"/>
              </a:rPr>
              <a:t>破损的现代衣物 · 已经不是人的肢体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272784"/>
            <a:ext cx="10874959" cy="8890"/>
          </a:xfrm>
          <a:prstGeom prst="rect">
            <a:avLst/>
          </a:prstGeom>
          <a:solidFill>
            <a:srgbClr val="262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6345936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3B30"/>
                </a:solidFill>
                <a:latin typeface="微软雅黑"/>
              </a:rPr>
              <a:t>妖化者是唯一允许使用高饱和红的角色</a:t>
            </a:r>
            <a:r>
              <a:rPr sz="1100" b="0" i="0">
                <a:solidFill>
                  <a:srgbClr val="8A93A6"/>
                </a:solidFill>
                <a:latin typeface="微软雅黑"/>
              </a:rPr>
              <a:t>，因为他本身就是“危险”。这是有意设计：玩家操作他时会持续感到不安。也是唯一 3 格体型的玩家角色 —— 视觉上必须是“身体正在向外蔓延”，不是“一个很胖的人”。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2B1C"/>
                </a:solidFill>
                <a:latin typeface="微软雅黑"/>
              </a:rPr>
              <a:t>05 · 角色 · 现有资产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76072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EE7DD"/>
                </a:solidFill>
                <a:latin typeface="微软雅黑"/>
              </a:rPr>
              <a:t>角色设定图：四职业已完成 L1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52144"/>
            <a:ext cx="548640" cy="4064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A93A6"/>
                </a:solidFill>
                <a:latin typeface="微软雅黑"/>
              </a:rPr>
              <a:t>三视图 / 武器法器 / 配饰 / 剪影方案齐备。可直接进入 sprite 拆分与骨骼动画阶段（A3：2D 手绘 sprite）。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8251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6476"/>
                </a:solidFill>
                <a:latin typeface="微软雅黑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9404E"/>
                </a:solidFill>
                <a:latin typeface="微软雅黑"/>
              </a:rPr>
              <a:t>《（暂名）Hex Spire》 美术高概念 v0.1</a:t>
            </a:r>
          </a:p>
        </p:txBody>
      </p:sp>
      <p:pic>
        <p:nvPicPr>
          <p:cNvPr id="9" name="Picture 8" descr="img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38528"/>
            <a:ext cx="5166360" cy="199339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1938528"/>
            <a:ext cx="5166360" cy="1993392"/>
          </a:xfrm>
          <a:prstGeom prst="rect">
            <a:avLst/>
          </a:prstGeom>
          <a:noFill/>
          <a:ln w="12700">
            <a:solidFill>
              <a:srgbClr val="262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3529584"/>
            <a:ext cx="2377440" cy="402336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3529584"/>
            <a:ext cx="31750" cy="402336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35844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EE7DD"/>
                </a:solidFill>
                <a:latin typeface="微软雅黑"/>
              </a:rPr>
              <a:t>镇邪者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3621024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6"/>
                </a:solidFill>
                <a:latin typeface="微软雅黑"/>
              </a:rPr>
              <a:t>以人之力，镇压妖邪</a:t>
            </a:r>
          </a:p>
        </p:txBody>
      </p:sp>
      <p:pic>
        <p:nvPicPr>
          <p:cNvPr id="15" name="Picture 14" descr="img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938528"/>
            <a:ext cx="5166360" cy="199339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190488" y="1938528"/>
            <a:ext cx="5166360" cy="1993392"/>
          </a:xfrm>
          <a:prstGeom prst="rect">
            <a:avLst/>
          </a:prstGeom>
          <a:noFill/>
          <a:ln w="12700">
            <a:solidFill>
              <a:srgbClr val="262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0488" y="3529584"/>
            <a:ext cx="2377440" cy="402336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0488" y="3529584"/>
            <a:ext cx="31750" cy="402336"/>
          </a:xfrm>
          <a:prstGeom prst="rect">
            <a:avLst/>
          </a:prstGeom>
          <a:solidFill>
            <a:srgbClr val="2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35844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EE7DD"/>
                </a:solidFill>
                <a:latin typeface="微软雅黑"/>
              </a:rPr>
              <a:t>方士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3621024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6"/>
                </a:solidFill>
                <a:latin typeface="微软雅黑"/>
              </a:rPr>
              <a:t>以术法，改写规则</a:t>
            </a:r>
          </a:p>
        </p:txBody>
      </p:sp>
      <p:pic>
        <p:nvPicPr>
          <p:cNvPr id="21" name="Picture 20" descr="img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51376"/>
            <a:ext cx="5166360" cy="199339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58368" y="4151376"/>
            <a:ext cx="5166360" cy="1993392"/>
          </a:xfrm>
          <a:prstGeom prst="rect">
            <a:avLst/>
          </a:prstGeom>
          <a:noFill/>
          <a:ln w="12700">
            <a:solidFill>
              <a:srgbClr val="262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" y="5742432"/>
            <a:ext cx="2377440" cy="402336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" y="5742432"/>
            <a:ext cx="31750" cy="402336"/>
          </a:xfrm>
          <a:prstGeom prst="rect">
            <a:avLst/>
          </a:prstGeom>
          <a:solidFill>
            <a:srgbClr val="6C4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57972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EE7DD"/>
                </a:solidFill>
                <a:latin typeface="微软雅黑"/>
              </a:rPr>
              <a:t>御灵者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583387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6"/>
                </a:solidFill>
                <a:latin typeface="微软雅黑"/>
              </a:rPr>
              <a:t>以怪谈，为己所用</a:t>
            </a:r>
          </a:p>
        </p:txBody>
      </p:sp>
      <p:pic>
        <p:nvPicPr>
          <p:cNvPr id="27" name="Picture 26" descr="img0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4151376"/>
            <a:ext cx="5166360" cy="199339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190488" y="4151376"/>
            <a:ext cx="5166360" cy="1993392"/>
          </a:xfrm>
          <a:prstGeom prst="rect">
            <a:avLst/>
          </a:prstGeom>
          <a:noFill/>
          <a:ln w="12700">
            <a:solidFill>
              <a:srgbClr val="262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90488" y="5742432"/>
            <a:ext cx="2377440" cy="402336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90488" y="5742432"/>
            <a:ext cx="31750" cy="402336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36792" y="57972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EE7DD"/>
                </a:solidFill>
                <a:latin typeface="微软雅黑"/>
              </a:rPr>
              <a:t>妖化者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6328" y="583387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6"/>
                </a:solidFill>
                <a:latin typeface="微软雅黑"/>
              </a:rPr>
              <a:t>以自身，化为妖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2B1C"/>
                </a:solidFill>
                <a:latin typeface="微软雅黑"/>
              </a:rPr>
              <a:t>05 · 怪物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76072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EE7DD"/>
                </a:solidFill>
                <a:latin typeface="微软雅黑"/>
              </a:rPr>
              <a:t>体型系统的视觉承载：1 / 3 / 6 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52144"/>
            <a:ext cx="548640" cy="4064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A93A6"/>
                </a:solidFill>
                <a:latin typeface="微软雅黑"/>
              </a:rPr>
              <a:t>体型系统若不可读，玩家会一直误判“我能不能走进去”。剪影语言必须随体型改变 —— 3 格不能是“放大的人形”。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8251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6476"/>
                </a:solidFill>
                <a:latin typeface="微软雅黑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9404E"/>
                </a:solidFill>
                <a:latin typeface="微软雅黑"/>
              </a:rPr>
              <a:t>《（暂名）Hex Spire》 美术高概念 v0.1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65960"/>
            <a:ext cx="3456432" cy="228600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965960"/>
            <a:ext cx="3456432" cy="38100"/>
          </a:xfrm>
          <a:prstGeom prst="rect">
            <a:avLst/>
          </a:prstGeom>
          <a:solidFill>
            <a:srgbClr val="3D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139696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DD6D0"/>
                </a:solidFill>
                <a:latin typeface="微软雅黑"/>
              </a:rPr>
              <a:t>1 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223113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Consolas"/>
              </a:rPr>
              <a:t>高 ≈1.6 格</a:t>
            </a:r>
          </a:p>
        </p:txBody>
      </p:sp>
      <p:sp>
        <p:nvSpPr>
          <p:cNvPr id="13" name="Hexagon 12"/>
          <p:cNvSpPr/>
          <p:nvPr/>
        </p:nvSpPr>
        <p:spPr>
          <a:xfrm rot="5400000">
            <a:off x="1054944" y="2971800"/>
            <a:ext cx="358991" cy="310896"/>
          </a:xfrm>
          <a:prstGeom prst="hexagon">
            <a:avLst/>
          </a:prstGeom>
          <a:noFill/>
          <a:ln w="17780">
            <a:solidFill>
              <a:srgbClr val="3D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87168" y="2651760"/>
            <a:ext cx="148132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 i="0">
                <a:solidFill>
                  <a:srgbClr val="EEE7DD"/>
                </a:solidFill>
                <a:latin typeface="微软雅黑"/>
              </a:rPr>
              <a:t>直立人形，竖向剪影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12463"/>
            <a:ext cx="3054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与玩家角色同尺度，一眼是“人”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4255" y="1965960"/>
            <a:ext cx="3456432" cy="228600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34255" y="1965960"/>
            <a:ext cx="3456432" cy="38100"/>
          </a:xfrm>
          <a:prstGeom prst="rect">
            <a:avLst/>
          </a:prstGeom>
          <a:solidFill>
            <a:srgbClr val="FFC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53711" y="2139696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FFC94D"/>
                </a:solidFill>
                <a:latin typeface="微软雅黑"/>
              </a:rPr>
              <a:t>3 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05855" y="223113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Consolas"/>
              </a:rPr>
              <a:t>高 ≈2.2 格</a:t>
            </a:r>
          </a:p>
        </p:txBody>
      </p:sp>
      <p:sp>
        <p:nvSpPr>
          <p:cNvPr id="20" name="Hexagon 19"/>
          <p:cNvSpPr/>
          <p:nvPr/>
        </p:nvSpPr>
        <p:spPr>
          <a:xfrm rot="5400000">
            <a:off x="4730831" y="2837182"/>
            <a:ext cx="358991" cy="310896"/>
          </a:xfrm>
          <a:prstGeom prst="hexagon">
            <a:avLst/>
          </a:prstGeom>
          <a:noFill/>
          <a:ln w="17780">
            <a:solidFill>
              <a:srgbClr val="FFC9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Hexagon 20"/>
          <p:cNvSpPr/>
          <p:nvPr/>
        </p:nvSpPr>
        <p:spPr>
          <a:xfrm rot="5400000">
            <a:off x="5041727" y="2837182"/>
            <a:ext cx="358991" cy="310896"/>
          </a:xfrm>
          <a:prstGeom prst="hexagon">
            <a:avLst/>
          </a:prstGeom>
          <a:noFill/>
          <a:ln w="17780">
            <a:solidFill>
              <a:srgbClr val="FFC9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Hexagon 21"/>
          <p:cNvSpPr/>
          <p:nvPr/>
        </p:nvSpPr>
        <p:spPr>
          <a:xfrm rot="5400000">
            <a:off x="4886279" y="3106417"/>
            <a:ext cx="358991" cy="310896"/>
          </a:xfrm>
          <a:prstGeom prst="hexagon">
            <a:avLst/>
          </a:prstGeom>
          <a:noFill/>
          <a:ln w="17780">
            <a:solidFill>
              <a:srgbClr val="FFC9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63055" y="2651760"/>
            <a:ext cx="148132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 i="0">
                <a:solidFill>
                  <a:srgbClr val="EEE7DD"/>
                </a:solidFill>
                <a:latin typeface="微软雅黑"/>
              </a:rPr>
              <a:t>非人比例：四足 / 横向展开 / 拖行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1" y="3712463"/>
            <a:ext cx="3054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横向剪影必须明显宽于 1 格单位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0142" y="1965960"/>
            <a:ext cx="3456432" cy="228600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10142" y="1965960"/>
            <a:ext cx="3456432" cy="3810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598" y="2139696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FF3B30"/>
                </a:solidFill>
                <a:latin typeface="微软雅黑"/>
              </a:rPr>
              <a:t>6 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2" y="223113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Consolas"/>
              </a:rPr>
              <a:t>高 ≈3.5 格</a:t>
            </a:r>
          </a:p>
        </p:txBody>
      </p:sp>
      <p:sp>
        <p:nvSpPr>
          <p:cNvPr id="29" name="Hexagon 28"/>
          <p:cNvSpPr/>
          <p:nvPr/>
        </p:nvSpPr>
        <p:spPr>
          <a:xfrm rot="5400000">
            <a:off x="8406718" y="2702564"/>
            <a:ext cx="358991" cy="310896"/>
          </a:xfrm>
          <a:prstGeom prst="hexagon">
            <a:avLst/>
          </a:prstGeom>
          <a:noFill/>
          <a:ln w="1778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Hexagon 29"/>
          <p:cNvSpPr/>
          <p:nvPr/>
        </p:nvSpPr>
        <p:spPr>
          <a:xfrm rot="5400000">
            <a:off x="8717614" y="2702564"/>
            <a:ext cx="358991" cy="310896"/>
          </a:xfrm>
          <a:prstGeom prst="hexagon">
            <a:avLst/>
          </a:prstGeom>
          <a:noFill/>
          <a:ln w="1778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1" name="Hexagon 30"/>
          <p:cNvSpPr/>
          <p:nvPr/>
        </p:nvSpPr>
        <p:spPr>
          <a:xfrm rot="5400000">
            <a:off x="9028510" y="2702564"/>
            <a:ext cx="358991" cy="310896"/>
          </a:xfrm>
          <a:prstGeom prst="hexagon">
            <a:avLst/>
          </a:prstGeom>
          <a:noFill/>
          <a:ln w="1778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Hexagon 31"/>
          <p:cNvSpPr/>
          <p:nvPr/>
        </p:nvSpPr>
        <p:spPr>
          <a:xfrm rot="5400000">
            <a:off x="8562166" y="2971800"/>
            <a:ext cx="358991" cy="310896"/>
          </a:xfrm>
          <a:prstGeom prst="hexagon">
            <a:avLst/>
          </a:prstGeom>
          <a:noFill/>
          <a:ln w="1778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3" name="Hexagon 32"/>
          <p:cNvSpPr/>
          <p:nvPr/>
        </p:nvSpPr>
        <p:spPr>
          <a:xfrm rot="5400000">
            <a:off x="8873062" y="2971800"/>
            <a:ext cx="358991" cy="310896"/>
          </a:xfrm>
          <a:prstGeom prst="hexagon">
            <a:avLst/>
          </a:prstGeom>
          <a:noFill/>
          <a:ln w="1778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Hexagon 33"/>
          <p:cNvSpPr/>
          <p:nvPr/>
        </p:nvSpPr>
        <p:spPr>
          <a:xfrm rot="5400000">
            <a:off x="8717614" y="3241035"/>
            <a:ext cx="358991" cy="310896"/>
          </a:xfrm>
          <a:prstGeom prst="hexagon">
            <a:avLst/>
          </a:prstGeom>
          <a:noFill/>
          <a:ln w="1778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38942" y="2651760"/>
            <a:ext cx="148132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 i="0">
                <a:solidFill>
                  <a:srgbClr val="EEE7DD"/>
                </a:solidFill>
                <a:latin typeface="微软雅黑"/>
              </a:rPr>
              <a:t>建筑 / 结构尺度，有超出屏幕感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8" y="3712463"/>
            <a:ext cx="3054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要有明确的“结构”感（车厢、天井），不是“很大的怪”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48056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C94D"/>
                </a:solidFill>
                <a:latin typeface="微软雅黑"/>
              </a:rPr>
              <a:t>三条不可省略的实现要求（策划案 §13.2）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828032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D6D0"/>
                </a:solidFill>
                <a:latin typeface="微软雅黑"/>
              </a:rPr>
              <a:t>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82803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EE7DD"/>
                </a:solidFill>
                <a:latin typeface="微软雅黑"/>
              </a:rPr>
              <a:t>footprint 完整描边 —— 所有单位按占格完整描边，不只画锚点格（Line2D 或 shader）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285232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D6D0"/>
                </a:solidFill>
                <a:latin typeface="微软雅黑"/>
              </a:rPr>
              <a:t>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28523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EE7DD"/>
                </a:solidFill>
                <a:latin typeface="微软雅黑"/>
              </a:rPr>
              <a:t>接地阴影 —— 3/4 视角下，每个单位在每一个占用格上画一个接地阴影椭圆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742432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D6D0"/>
                </a:solidFill>
                <a:latin typeface="微软雅黑"/>
              </a:rPr>
              <a:t>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" y="574243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EE7DD"/>
                </a:solidFill>
                <a:latin typeface="微软雅黑"/>
              </a:rPr>
              <a:t>移动预览显示 footprint —— 拖动时实时显示落点完整占位与合法性（青蓝 / 红）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48056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3B30"/>
                </a:solidFill>
                <a:latin typeface="微软雅黑"/>
              </a:rPr>
              <a:t>两个 Boss 都是“建筑 / 载具本身”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828032"/>
            <a:ext cx="5212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一章 Boss = 末班车（车本体）  ·  二章 Boss = 商场中庭（建筑本体）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微软雅黑"/>
              </a:rPr>
              <a:t>理由：① 6 格在 7×7 战场占 12%，人形放大到这个尺寸会很蠢；②“整座商场就是那个鬼”完全符合“日常物件才是异常”的调性；③ Boss 可以是战场本身的一部分，省一整套大型单位动画。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5870448"/>
            <a:ext cx="5212080" cy="365760"/>
          </a:xfrm>
          <a:prstGeom prst="rect">
            <a:avLst/>
          </a:prstGeom>
          <a:solidFill>
            <a:srgbClr val="1E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92240" y="59436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C94D"/>
                </a:solidFill>
                <a:latin typeface="微软雅黑"/>
              </a:rPr>
              <a:t>视觉密度与体型成反比 —— </a:t>
            </a:r>
            <a:r>
              <a:rPr sz="1100" b="0" i="0">
                <a:solidFill>
                  <a:srgbClr val="8A93A6"/>
                </a:solidFill>
                <a:latin typeface="微软雅黑"/>
              </a:rPr>
              <a:t>6 格 Boss 的贴图细节要比 1 格小怪更简洁。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g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384048"/>
            <a:ext cx="5623560" cy="6089904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g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0"/>
            <a:ext cx="6382512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58368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D6D0"/>
                </a:solidFill>
                <a:latin typeface="微软雅黑"/>
              </a:rPr>
              <a:t>06 · 战场 · 可读性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77824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EEE7DD"/>
                </a:solidFill>
                <a:latin typeface="微软雅黑"/>
              </a:rPr>
              <a:t>战场可读性硬规则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426464"/>
            <a:ext cx="548640" cy="4064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591056"/>
            <a:ext cx="50292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8A93A6"/>
                </a:solidFill>
                <a:latin typeface="微软雅黑"/>
              </a:rPr>
              <a:t>直接服务 V3 支柱与策划案 §13.2，每条都不可协商。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1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D6D0"/>
                </a:solidFill>
                <a:latin typeface="Consolas"/>
              </a:rPr>
              <a:t>R1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2084831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地形 tile 明度对比 ≤20%，花纹 ≤tile 面积 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32303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D6D0"/>
                </a:solidFill>
                <a:latin typeface="Consolas"/>
              </a:rPr>
              <a:t>R2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32303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功能色永不出现在地形与 prop 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79775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D6D0"/>
                </a:solidFill>
                <a:latin typeface="Consolas"/>
              </a:rPr>
              <a:t>R3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2779775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危害格必须同时用 颜色 + 图案 + 微动画 三重编码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127247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D6D0"/>
                </a:solidFill>
                <a:latin typeface="Consolas"/>
              </a:rPr>
              <a:t>R4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3127247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单位与地面的明度差 ≥40%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474719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D6D0"/>
                </a:solidFill>
                <a:latin typeface="Consolas"/>
              </a:rPr>
              <a:t>R5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474719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每个单位在每个占用格上有接地阴影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822191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D6D0"/>
                </a:solidFill>
                <a:latin typeface="Consolas"/>
              </a:rPr>
              <a:t>R6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" y="3822191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己方 / 敌方用轮廓光颜色区分，不靠底座圆环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169663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D6D0"/>
                </a:solidFill>
                <a:latin typeface="Consolas"/>
              </a:rPr>
              <a:t>R7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" y="4169663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格线始终可见，最低 15% 不透明度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517135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D6D0"/>
                </a:solidFill>
                <a:latin typeface="Consolas"/>
              </a:rPr>
              <a:t>R8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" y="4517135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所有战斗特效 ≤0.4 秒，且支持一键跳过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864607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D6D0"/>
                </a:solidFill>
                <a:latin typeface="Consolas"/>
              </a:rPr>
              <a:t>R9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" y="4864607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特效不得遮挡目标格 —— 格心保持可见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358384"/>
            <a:ext cx="5029200" cy="932688"/>
          </a:xfrm>
          <a:prstGeom prst="rect">
            <a:avLst/>
          </a:prstGeom>
          <a:solidFill>
            <a:srgbClr val="0A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8368" y="5358384"/>
            <a:ext cx="38100" cy="932688"/>
          </a:xfrm>
          <a:prstGeom prst="rect">
            <a:avLst/>
          </a:prstGeom>
          <a:solidFill>
            <a:srgbClr val="3D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9536" y="5468112"/>
            <a:ext cx="471830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3DD6D0"/>
                </a:solidFill>
                <a:latin typeface="微软雅黑"/>
              </a:rPr>
              <a:t>R7 与氛围的冲突是最典型的取舍。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“暗到看不清”恰恰是恐怖游戏想要的，但这是战棋。解法不是妥协亮度，而是把恐怖放到战斗之外：过场镜头、地图界面、事件插画可以很暗；战斗中的战场必须清晰。那 1.5 秒过场是氛围的配额，战斗回合内不再给。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38251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6476"/>
                </a:solidFill>
                <a:latin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2B1C"/>
                </a:solidFill>
                <a:latin typeface="微软雅黑"/>
              </a:rPr>
              <a:t>06 · 战场 · 规格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76072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EE7DD"/>
                </a:solidFill>
                <a:latin typeface="微软雅黑"/>
              </a:rPr>
              <a:t>六边形 Tile 技术规格与图层结构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52144"/>
            <a:ext cx="548640" cy="4064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A93A6"/>
                </a:solidFill>
                <a:latin typeface="微软雅黑"/>
              </a:rPr>
              <a:t>对齐策划案 §14.3。尖顶（pointy-top）· odd-r · y_sort_enabled = true。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8251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6476"/>
                </a:solidFill>
                <a:latin typeface="微软雅黑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9404E"/>
                </a:solidFill>
                <a:latin typeface="微软雅黑"/>
              </a:rPr>
              <a:t>《（暂名）Hex Spire》 美术高概念 v0.1</a:t>
            </a:r>
          </a:p>
        </p:txBody>
      </p:sp>
      <p:sp>
        <p:nvSpPr>
          <p:cNvPr id="9" name="Hexagon 8"/>
          <p:cNvSpPr/>
          <p:nvPr/>
        </p:nvSpPr>
        <p:spPr>
          <a:xfrm rot="5400000">
            <a:off x="1070563" y="1846996"/>
            <a:ext cx="1108650" cy="960120"/>
          </a:xfrm>
          <a:prstGeom prst="hexagon">
            <a:avLst/>
          </a:prstGeom>
          <a:noFill/>
          <a:ln w="17780">
            <a:solidFill>
              <a:srgbClr val="2D39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Hexagon 9"/>
          <p:cNvSpPr/>
          <p:nvPr/>
        </p:nvSpPr>
        <p:spPr>
          <a:xfrm rot="5400000">
            <a:off x="2027026" y="1846996"/>
            <a:ext cx="1108650" cy="960120"/>
          </a:xfrm>
          <a:prstGeom prst="hexagon">
            <a:avLst/>
          </a:prstGeom>
          <a:noFill/>
          <a:ln w="17780">
            <a:solidFill>
              <a:srgbClr val="2D39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" name="Hexagon 10"/>
          <p:cNvSpPr/>
          <p:nvPr/>
        </p:nvSpPr>
        <p:spPr>
          <a:xfrm rot="5400000">
            <a:off x="592331" y="2674620"/>
            <a:ext cx="1108650" cy="960120"/>
          </a:xfrm>
          <a:prstGeom prst="hexagon">
            <a:avLst/>
          </a:prstGeom>
          <a:noFill/>
          <a:ln w="17780">
            <a:solidFill>
              <a:srgbClr val="2D39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Hexagon 11"/>
          <p:cNvSpPr/>
          <p:nvPr/>
        </p:nvSpPr>
        <p:spPr>
          <a:xfrm rot="5400000">
            <a:off x="1548794" y="2674620"/>
            <a:ext cx="1108650" cy="960120"/>
          </a:xfrm>
          <a:prstGeom prst="hexagon">
            <a:avLst/>
          </a:prstGeom>
          <a:solidFill>
            <a:srgbClr val="0F2C2C"/>
          </a:solidFill>
          <a:ln w="17780">
            <a:solidFill>
              <a:srgbClr val="3D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Hexagon 12"/>
          <p:cNvSpPr/>
          <p:nvPr/>
        </p:nvSpPr>
        <p:spPr>
          <a:xfrm rot="5400000">
            <a:off x="2505257" y="2674620"/>
            <a:ext cx="1108650" cy="960120"/>
          </a:xfrm>
          <a:prstGeom prst="hexagon">
            <a:avLst/>
          </a:prstGeom>
          <a:noFill/>
          <a:ln w="17780">
            <a:solidFill>
              <a:srgbClr val="2D39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Hexagon 13"/>
          <p:cNvSpPr/>
          <p:nvPr/>
        </p:nvSpPr>
        <p:spPr>
          <a:xfrm rot="5400000">
            <a:off x="1070563" y="3502243"/>
            <a:ext cx="1108650" cy="960120"/>
          </a:xfrm>
          <a:prstGeom prst="hexagon">
            <a:avLst/>
          </a:prstGeom>
          <a:noFill/>
          <a:ln w="17780">
            <a:solidFill>
              <a:srgbClr val="2D39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Hexagon 14"/>
          <p:cNvSpPr/>
          <p:nvPr/>
        </p:nvSpPr>
        <p:spPr>
          <a:xfrm rot="5400000">
            <a:off x="2027026" y="3502243"/>
            <a:ext cx="1108650" cy="960120"/>
          </a:xfrm>
          <a:prstGeom prst="hexagon">
            <a:avLst/>
          </a:prstGeom>
          <a:noFill/>
          <a:ln w="17780">
            <a:solidFill>
              <a:srgbClr val="2D39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27632" y="306324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3DD6D0"/>
                </a:solidFill>
                <a:latin typeface="Consolas"/>
              </a:rPr>
              <a:t>128 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443984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 i="0">
                <a:solidFill>
                  <a:srgbClr val="EEE7DD"/>
                </a:solidFill>
                <a:latin typeface="Consolas"/>
              </a:rPr>
              <a:t>W 128 · H 148 · 行间距 111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安全区 中心 96×96；单位锚点 = tile 底部中心。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128×7 ≈ 896 px 战场宽，1920×1080 下留出两侧 UI 空间。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9659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C94D"/>
                </a:solidFill>
                <a:latin typeface="微软雅黑"/>
              </a:rPr>
              <a:t>Godot 配置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2286000"/>
            <a:ext cx="3246120" cy="1874519"/>
          </a:xfrm>
          <a:prstGeom prst="rect">
            <a:avLst/>
          </a:prstGeom>
          <a:solidFill>
            <a:srgbClr val="080B12"/>
          </a:solidFill>
          <a:ln w="9525">
            <a:solidFill>
              <a:srgbClr val="262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69663" y="2377440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6"/>
                </a:solidFill>
                <a:latin typeface="Consolas"/>
              </a:rPr>
              <a:t>tile_shape    = TILE_SHAPE_HEXAGON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3" y="2601468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6"/>
                </a:solidFill>
                <a:latin typeface="Consolas"/>
              </a:rPr>
              <a:t>tile_layout   = TILE_LAYOUT_STACKED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9663" y="2825496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B6476"/>
                </a:solidFill>
                <a:latin typeface="Consolas"/>
              </a:rPr>
              <a:t>                # odd-r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9663" y="3049524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6"/>
                </a:solidFill>
                <a:latin typeface="Consolas"/>
              </a:rPr>
              <a:t>tile_offset_axis 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9663" y="3273552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6"/>
                </a:solidFill>
                <a:latin typeface="Consolas"/>
              </a:rPr>
              <a:t>  TILE_OFFSET_AXIS_HORIZONTAL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9663" y="3497580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B6476"/>
                </a:solidFill>
                <a:latin typeface="Consolas"/>
              </a:rPr>
              <a:t>                # 尖顶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9663" y="3721608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93A6"/>
                </a:solidFill>
                <a:latin typeface="Consolas"/>
              </a:rPr>
              <a:t>y_sort_enabled = true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9663" y="3945636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DD6D0"/>
                </a:solidFill>
                <a:latin typeface="Consolas"/>
              </a:rPr>
              <a:t>战场 7 × 7 = 49 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431596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3B30"/>
                </a:solidFill>
                <a:latin typeface="微软雅黑"/>
              </a:rPr>
              <a:t>若采用更高分辨率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4608576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微软雅黑"/>
              </a:rPr>
              <a:t>按 2 倍出图（256×296）再降采样，不要重画。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19659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C94D"/>
                </a:solidFill>
                <a:latin typeface="微软雅黑"/>
              </a:rPr>
              <a:t>图层结构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2331720"/>
            <a:ext cx="3886200" cy="603504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635240" y="2331720"/>
            <a:ext cx="31750" cy="603504"/>
          </a:xfrm>
          <a:prstGeom prst="rect">
            <a:avLst/>
          </a:prstGeom>
          <a:solidFill>
            <a:srgbClr val="2D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0" y="2395728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D3949"/>
                </a:solidFill>
                <a:latin typeface="Consolas"/>
              </a:rPr>
              <a:t>TerrainLayer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239572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美术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642616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静态 tile 集，每章 5–7 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5240" y="3044952"/>
            <a:ext cx="3886200" cy="603504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635240" y="3044952"/>
            <a:ext cx="31750" cy="603504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0" y="3108960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3B30"/>
                </a:solidFill>
                <a:latin typeface="Consolas"/>
              </a:rPr>
              <a:t>HazardLayer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3108960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美术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355848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动态 tile，需明显图案 + 微动画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35240" y="3758184"/>
            <a:ext cx="3886200" cy="603504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635240" y="3758184"/>
            <a:ext cx="31750" cy="603504"/>
          </a:xfrm>
          <a:prstGeom prst="rect">
            <a:avLst/>
          </a:prstGeom>
          <a:solidFill>
            <a:srgbClr val="3D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72400" y="3822192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3DD6D0"/>
                </a:solidFill>
                <a:latin typeface="Consolas"/>
              </a:rPr>
              <a:t>HighlightLayer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3822192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C94D"/>
                </a:solidFill>
                <a:latin typeface="微软雅黑"/>
              </a:rPr>
              <a:t>程序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4069080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纯功能色半透明填充 + 描边，无花纹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35240" y="4471416"/>
            <a:ext cx="3886200" cy="603504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635240" y="4471416"/>
            <a:ext cx="31750" cy="603504"/>
          </a:xfrm>
          <a:prstGeom prst="rect">
            <a:avLst/>
          </a:prstGeom>
          <a:solidFill>
            <a:srgbClr val="6C4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772400" y="4535424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C4464"/>
                </a:solidFill>
                <a:latin typeface="Consolas"/>
              </a:rPr>
              <a:t>FeatureLayer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81360" y="4535424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美术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478231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prop，必须与地形有明显明度差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35240" y="5184648"/>
            <a:ext cx="3886200" cy="603504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635240" y="5184648"/>
            <a:ext cx="31750" cy="603504"/>
          </a:xfrm>
          <a:prstGeom prst="rect">
            <a:avLst/>
          </a:prstGeom>
          <a:solidFill>
            <a:srgbClr val="EE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72400" y="5248656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EE7DD"/>
                </a:solidFill>
                <a:latin typeface="Consolas"/>
              </a:rPr>
              <a:t>Node 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81360" y="5248656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美术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5495544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单位 + footprint 描边 + 接地阴影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5468112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C94D"/>
                </a:solidFill>
                <a:latin typeface="微软雅黑"/>
              </a:rPr>
              <a:t>意图预告：可躲 vs 追踪（策划案 §8.7 点名，不可省略）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5797296"/>
            <a:ext cx="3291840" cy="475488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58368" y="5797296"/>
            <a:ext cx="31750" cy="475488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2960" y="5870448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EEE7DD"/>
                </a:solidFill>
                <a:latin typeface="微软雅黑"/>
              </a:rPr>
              <a:t>打击格 实线</a:t>
            </a:r>
            <a:r>
              <a:rPr sz="1100" b="0" i="0">
                <a:solidFill>
                  <a:srgbClr val="8A93A6"/>
                </a:solidFill>
                <a:latin typeface="微软雅黑"/>
              </a:rPr>
              <a:t> = 打空地 → 可躲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33088" y="5797296"/>
            <a:ext cx="3474720" cy="475488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133088" y="5797296"/>
            <a:ext cx="31750" cy="475488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97680" y="5870448"/>
            <a:ext cx="32004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EEE7DD"/>
                </a:solidFill>
                <a:latin typeface="微软雅黑"/>
              </a:rPr>
              <a:t>虚线锁定 + 连线到玩家</a:t>
            </a:r>
            <a:r>
              <a:rPr sz="1100" b="0" i="0">
                <a:solidFill>
                  <a:srgbClr val="8A93A6"/>
                </a:solidFill>
                <a:latin typeface="微软雅黑"/>
              </a:rPr>
              <a:t> = 追踪 → 躲不掉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2B1C"/>
                </a:solidFill>
                <a:latin typeface="微软雅黑"/>
              </a:rPr>
              <a:t>07 · 腐蚀度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76072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EE7DD"/>
                </a:solidFill>
                <a:latin typeface="微软雅黑"/>
              </a:rPr>
              <a:t>腐蚀度：一张底图 + 三组贴花 + 四档后处理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52144"/>
            <a:ext cx="548640" cy="4064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A93A6"/>
                </a:solidFill>
                <a:latin typeface="微软雅黑"/>
              </a:rPr>
              <a:t>本项目唯一需要美术随游戏状态动态变化的系统，也是全文性价比最高的设计 —— 玩家能“看见”自己有多贪。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8251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6476"/>
                </a:solidFill>
                <a:latin typeface="微软雅黑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9404E"/>
                </a:solidFill>
                <a:latin typeface="微软雅黑"/>
              </a:rPr>
              <a:t>《（暂名）Hex Spire》 美术高概念 v0.1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65960"/>
            <a:ext cx="2560320" cy="251460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965960"/>
            <a:ext cx="2560320" cy="566928"/>
          </a:xfrm>
          <a:prstGeom prst="rect">
            <a:avLst/>
          </a:prstGeom>
          <a:solidFill>
            <a:srgbClr val="13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084831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EE7DD"/>
                </a:solidFill>
                <a:latin typeface="Consolas"/>
              </a:rPr>
              <a:t>0–2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21396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EE7DD"/>
                </a:solidFill>
                <a:latin typeface="微软雅黑"/>
              </a:rPr>
              <a:t>干净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670048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基础后处理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04164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C94D"/>
                </a:solidFill>
                <a:latin typeface="微软雅黑"/>
              </a:rPr>
              <a:t>“这就是个地铁站”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6976" y="299923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B6476"/>
                </a:solidFill>
                <a:latin typeface="微软雅黑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965960"/>
            <a:ext cx="2560320" cy="251460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01568" y="1965960"/>
            <a:ext cx="2560320" cy="566928"/>
          </a:xfrm>
          <a:prstGeom prst="rect">
            <a:avLst/>
          </a:prstGeom>
          <a:solidFill>
            <a:srgbClr val="2C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84448" y="2084831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EE7DD"/>
                </a:solidFill>
                <a:latin typeface="Consolas"/>
              </a:rPr>
              <a:t>3–5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21396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EE7DD"/>
                </a:solidFill>
                <a:latin typeface="微软雅黑"/>
              </a:rPr>
              <a:t>渗透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2670048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色相往红偏 5–8° · 雾密度 +30% · 贴花组 A（符纸、渗色、多出的影子）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404164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C94D"/>
                </a:solidFill>
                <a:latin typeface="微软雅黑"/>
              </a:rPr>
              <a:t>“刚才是不是没这些东西？”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0176" y="299923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B6476"/>
                </a:solidFill>
                <a:latin typeface="微软雅黑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965960"/>
            <a:ext cx="2560320" cy="251460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44768" y="1965960"/>
            <a:ext cx="2560320" cy="566928"/>
          </a:xfrm>
          <a:prstGeom prst="rect">
            <a:avLst/>
          </a:prstGeom>
          <a:solidFill>
            <a:srgbClr val="4A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7648" y="2084831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EE7DD"/>
                </a:solidFill>
                <a:latin typeface="Consolas"/>
              </a:rPr>
              <a:t>6–8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8" y="21396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EE7DD"/>
                </a:solidFill>
                <a:latin typeface="微软雅黑"/>
              </a:rPr>
              <a:t>侵蚀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2670048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红饱和 +25% · 暗角加强 · 贴花组 B（结构扭曲、灯笼、朱红筋络） · 呼吸缩放 ±0.5%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4164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C94D"/>
                </a:solidFill>
                <a:latin typeface="微软雅黑"/>
              </a:rPr>
              <a:t>“这里已经不是地铁了”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3376" y="299923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B6476"/>
                </a:solidFill>
                <a:latin typeface="微软雅黑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87968" y="1965960"/>
            <a:ext cx="2560320" cy="251460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87968" y="1965960"/>
            <a:ext cx="2560320" cy="566928"/>
          </a:xfrm>
          <a:prstGeom prst="rect">
            <a:avLst/>
          </a:prstGeom>
          <a:solidFill>
            <a:srgbClr val="7A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70848" y="2084831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EE7DD"/>
                </a:solidFill>
                <a:latin typeface="Consolas"/>
              </a:rPr>
              <a:t>9+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59568" y="21396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EE7DD"/>
                </a:solidFill>
                <a:latin typeface="微软雅黑"/>
              </a:rPr>
              <a:t>沦陷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0848" y="2670048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全局偏红 · 灯光闪烁 · 贴花组 C · UI 边框渗出朱红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404164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C94D"/>
                </a:solidFill>
                <a:latin typeface="微软雅黑"/>
              </a:rPr>
              <a:t>“我该跑了”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718304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C94D"/>
                </a:solidFill>
                <a:latin typeface="微软雅黑"/>
              </a:rPr>
              <a:t>实现纪律（省钱的关键）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047488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3DD6D0"/>
                </a:solidFill>
                <a:latin typeface="微软雅黑"/>
              </a:rPr>
              <a:t>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04748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档位切换靠后处理 + 贴花组，绝不靠重绘场景。底图一张，贴花三组，参数四档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522976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3DD6D0"/>
                </a:solidFill>
                <a:latin typeface="微软雅黑"/>
              </a:rPr>
              <a:t>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5522976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后处理集中在一个 WorldEnvironment / 全屏 shader，由 RunManager 的腐蚀度值驱动。禁止逐资产做腐蚀版本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5998464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3DD6D0"/>
                </a:solidFill>
                <a:latin typeface="微软雅黑"/>
              </a:rPr>
              <a:t>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5998464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切换必须是渐变（≥1.5s），不是跳变。玩家应该“没注意到什么时候变的”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4718304"/>
            <a:ext cx="3840480" cy="1463040"/>
          </a:xfrm>
          <a:prstGeom prst="rect">
            <a:avLst/>
          </a:prstGeom>
          <a:solidFill>
            <a:srgbClr val="1E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680960" y="4718304"/>
            <a:ext cx="3840480" cy="3810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63840" y="4901184"/>
            <a:ext cx="3520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1" i="0">
                <a:solidFill>
                  <a:srgbClr val="FF3B30"/>
                </a:solidFill>
                <a:latin typeface="微软雅黑"/>
              </a:rPr>
              <a:t>⚠  后处理不得影响 UI 层与 HighlightLayer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腐蚀度 9 时全局偏红，如果 UI 也偏红，FN_DANGER 就读不出来了 —— 这会直接摧毁红色分离。渲染顺序上 UI 必须在后处理之上。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2B1C"/>
                </a:solidFill>
                <a:latin typeface="微软雅黑"/>
              </a:rPr>
              <a:t>07 ·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76072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EE7DD"/>
                </a:solidFill>
                <a:latin typeface="微软雅黑"/>
              </a:rPr>
              <a:t>卡牌 · 符文 · 装备：一眼分辨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52144"/>
            <a:ext cx="548640" cy="4064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A93A6"/>
                </a:solidFill>
                <a:latin typeface="微软雅黑"/>
              </a:rPr>
              <a:t>三者在策划案里职能不同，视觉上必须一眼分辨。符文用六边形是有意的 —— 它暗示“符文改的是这个世界的底层规则”。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8251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6476"/>
                </a:solidFill>
                <a:latin typeface="微软雅黑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9404E"/>
                </a:solidFill>
                <a:latin typeface="微软雅黑"/>
              </a:rPr>
              <a:t>《（暂名）Hex Spire》 美术高概念 v0.1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65960"/>
            <a:ext cx="2286000" cy="288036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965960"/>
            <a:ext cx="2286000" cy="38100"/>
          </a:xfrm>
          <a:prstGeom prst="rect">
            <a:avLst/>
          </a:prstGeom>
          <a:solidFill>
            <a:srgbClr val="FFC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12140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EE7DD"/>
                </a:solidFill>
                <a:latin typeface="微软雅黑"/>
              </a:rPr>
              <a:t>卡牌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2542032"/>
            <a:ext cx="768096" cy="1060704"/>
          </a:xfrm>
          <a:prstGeom prst="rect">
            <a:avLst/>
          </a:prstGeom>
          <a:noFill/>
          <a:ln w="19050">
            <a:solidFill>
              <a:srgbClr val="FFC9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3712463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476"/>
                </a:solidFill>
                <a:latin typeface="微软雅黑"/>
              </a:rPr>
              <a:t>形状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3712463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竖长方形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986783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476"/>
                </a:solidFill>
                <a:latin typeface="微软雅黑"/>
              </a:rPr>
              <a:t>材质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3986783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符纸 / 宣纸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261103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476"/>
                </a:solidFill>
                <a:latin typeface="微软雅黑"/>
              </a:rPr>
              <a:t>主色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4261103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按流派分色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590288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FFC94D"/>
                </a:solidFill>
                <a:latin typeface="微软雅黑"/>
              </a:rPr>
              <a:t>“我这回合要做的事”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45536" y="1965960"/>
            <a:ext cx="2286000" cy="288036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145536" y="1965960"/>
            <a:ext cx="2286000" cy="38100"/>
          </a:xfrm>
          <a:prstGeom prst="rect">
            <a:avLst/>
          </a:prstGeom>
          <a:solidFill>
            <a:srgbClr val="B47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28416" y="212140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EE7DD"/>
                </a:solidFill>
                <a:latin typeface="微软雅黑"/>
              </a:rPr>
              <a:t>符文</a:t>
            </a:r>
          </a:p>
        </p:txBody>
      </p:sp>
      <p:sp>
        <p:nvSpPr>
          <p:cNvPr id="23" name="Hexagon 22"/>
          <p:cNvSpPr/>
          <p:nvPr/>
        </p:nvSpPr>
        <p:spPr>
          <a:xfrm rot="5400000">
            <a:off x="3760607" y="2615184"/>
            <a:ext cx="1055857" cy="914400"/>
          </a:xfrm>
          <a:prstGeom prst="hexagon">
            <a:avLst/>
          </a:prstGeom>
          <a:noFill/>
          <a:ln w="19050">
            <a:solidFill>
              <a:srgbClr val="B47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28416" y="3712463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476"/>
                </a:solidFill>
                <a:latin typeface="微软雅黑"/>
              </a:rPr>
              <a:t>形状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3904" y="3712463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六边形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28416" y="3986783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476"/>
                </a:solidFill>
                <a:latin typeface="微软雅黑"/>
              </a:rPr>
              <a:t>材质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03904" y="3986783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石 / 玉 / 骨的刻印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28416" y="4261103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476"/>
                </a:solidFill>
                <a:latin typeface="微软雅黑"/>
              </a:rPr>
              <a:t>主色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03904" y="4261103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紫 FN_RUNE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6" y="4590288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B47FE8"/>
                </a:solidFill>
                <a:latin typeface="微软雅黑"/>
              </a:rPr>
              <a:t>“规则被改写了”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32704" y="1965960"/>
            <a:ext cx="2286000" cy="288036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632704" y="1965960"/>
            <a:ext cx="2286000" cy="38100"/>
          </a:xfrm>
          <a:prstGeom prst="rect">
            <a:avLst/>
          </a:prstGeom>
          <a:solidFill>
            <a:srgbClr val="7FA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15584" y="212140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EE7DD"/>
                </a:solidFill>
                <a:latin typeface="微软雅黑"/>
              </a:rPr>
              <a:t>装备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72784" y="2697480"/>
            <a:ext cx="1005840" cy="749808"/>
          </a:xfrm>
          <a:prstGeom prst="roundRect">
            <a:avLst/>
          </a:prstGeom>
          <a:noFill/>
          <a:ln w="19050">
            <a:solidFill>
              <a:srgbClr val="7FA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15584" y="3712463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476"/>
                </a:solidFill>
                <a:latin typeface="微软雅黑"/>
              </a:rPr>
              <a:t>形状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3712463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圆角方形 / 异形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4" y="3986783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476"/>
                </a:solidFill>
                <a:latin typeface="微软雅黑"/>
              </a:rPr>
              <a:t>材质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1072" y="3986783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金属 / 皮革 / 现代材质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4261103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476"/>
                </a:solidFill>
                <a:latin typeface="微软雅黑"/>
              </a:rPr>
              <a:t>主色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1072" y="4261103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金 FN_GOLD + 材质本色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15584" y="4590288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7FA8D9"/>
                </a:solidFill>
                <a:latin typeface="微软雅黑"/>
              </a:rPr>
              <a:t>“我身上带的东西”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19659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C94D"/>
                </a:solidFill>
                <a:latin typeface="微软雅黑"/>
              </a:rPr>
              <a:t>卡牌内部信息层级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233172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C94D"/>
                </a:solidFill>
                <a:latin typeface="微软雅黑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49056" y="233172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EE7DD"/>
                </a:solidFill>
                <a:latin typeface="微软雅黑"/>
              </a:rPr>
              <a:t>体力消耗（左上角，最大的数字）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2331720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FC94D"/>
                </a:solidFill>
                <a:latin typeface="微软雅黑"/>
              </a:rPr>
              <a:t>最高频读取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269748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EE7DD"/>
                </a:solidFill>
                <a:latin typeface="微软雅黑"/>
              </a:rPr>
              <a:t>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49056" y="269748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EE7DD"/>
                </a:solidFill>
                <a:latin typeface="微软雅黑"/>
              </a:rPr>
              <a:t>卡名（宋体，中）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306324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C94D"/>
                </a:solidFill>
                <a:latin typeface="微软雅黑"/>
              </a:rPr>
              <a:t>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49056" y="306324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EE7DD"/>
                </a:solidFill>
                <a:latin typeface="微软雅黑"/>
              </a:rPr>
              <a:t>效果数值（等宽粗体，高亮）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89920" y="3063240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FC94D"/>
                </a:solidFill>
                <a:latin typeface="微软雅黑"/>
              </a:rPr>
              <a:t>第二高频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342900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EE7DD"/>
                </a:solidFill>
                <a:latin typeface="微软雅黑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49056" y="342900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EE7DD"/>
                </a:solidFill>
                <a:latin typeface="微软雅黑"/>
              </a:rPr>
              <a:t>效果描述（黑体，小）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379476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3B30"/>
                </a:solidFill>
                <a:latin typeface="微软雅黑"/>
              </a:rPr>
              <a:t>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49056" y="379476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EE7DD"/>
                </a:solidFill>
                <a:latin typeface="微软雅黑"/>
              </a:rPr>
              <a:t>插画（背景，可被文字压住）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0" y="3794760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F3B30"/>
                </a:solidFill>
                <a:latin typeface="微软雅黑"/>
              </a:rPr>
              <a:t>最低优先级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16052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EE7DD"/>
                </a:solidFill>
                <a:latin typeface="微软雅黑"/>
              </a:rPr>
              <a:t>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49056" y="416052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EE7DD"/>
                </a:solidFill>
                <a:latin typeface="微软雅黑"/>
              </a:rPr>
              <a:t>标签（底部小字，仅检索用）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38160" y="4663440"/>
            <a:ext cx="3383280" cy="1207008"/>
          </a:xfrm>
          <a:prstGeom prst="rect">
            <a:avLst/>
          </a:prstGeom>
          <a:solidFill>
            <a:srgbClr val="1E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38160" y="4663440"/>
            <a:ext cx="38100" cy="1207008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21040" y="4809744"/>
            <a:ext cx="3063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1" i="0">
                <a:solidFill>
                  <a:srgbClr val="FF3B30"/>
                </a:solidFill>
                <a:latin typeface="微软雅黑"/>
              </a:rPr>
              <a:t>⑤ 插画优先级最低，写进外包需求。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策划案 §7.5 要求卡牌数值系数化（伤害随 ATK 成长），意味着卡面数值是动态的、会变成三位数 —— 插画必须给数字留出足够的低对比区域。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5138928"/>
            <a:ext cx="7223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 i="0">
                <a:solidFill>
                  <a:srgbClr val="B47FE8"/>
                </a:solidFill>
                <a:latin typeface="微软雅黑"/>
              </a:rPr>
              <a:t>符文面板（策划案 §6.5「顺序可见」）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微软雅黑"/>
              </a:rPr>
              <a:t>6 槽有序 + 顺序箭头。符文的六边形与卡牌的长方形在缩略图下绝不会混淆 —— 这是刻意的形状分工。</a:t>
            </a:r>
          </a:p>
        </p:txBody>
      </p:sp>
      <p:sp>
        <p:nvSpPr>
          <p:cNvPr id="62" name="Hexagon 61"/>
          <p:cNvSpPr/>
          <p:nvPr/>
        </p:nvSpPr>
        <p:spPr>
          <a:xfrm rot="5400000">
            <a:off x="715100" y="5769864"/>
            <a:ext cx="654631" cy="566928"/>
          </a:xfrm>
          <a:prstGeom prst="hexagon">
            <a:avLst/>
          </a:prstGeom>
          <a:solidFill>
            <a:srgbClr val="1C1428"/>
          </a:solidFill>
          <a:ln w="15240">
            <a:solidFill>
              <a:srgbClr val="B47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316736" y="594360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B47FE8"/>
                </a:solidFill>
                <a:latin typeface="微软雅黑"/>
              </a:rPr>
              <a:t>›</a:t>
            </a:r>
          </a:p>
        </p:txBody>
      </p:sp>
      <p:sp>
        <p:nvSpPr>
          <p:cNvPr id="64" name="Hexagon 63"/>
          <p:cNvSpPr/>
          <p:nvPr/>
        </p:nvSpPr>
        <p:spPr>
          <a:xfrm rot="5400000">
            <a:off x="1428332" y="5769864"/>
            <a:ext cx="654631" cy="566928"/>
          </a:xfrm>
          <a:prstGeom prst="hexagon">
            <a:avLst/>
          </a:prstGeom>
          <a:solidFill>
            <a:srgbClr val="1C1428"/>
          </a:solidFill>
          <a:ln w="15240">
            <a:solidFill>
              <a:srgbClr val="B47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029968" y="594360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B47FE8"/>
                </a:solidFill>
                <a:latin typeface="微软雅黑"/>
              </a:rPr>
              <a:t>›</a:t>
            </a:r>
          </a:p>
        </p:txBody>
      </p:sp>
      <p:sp>
        <p:nvSpPr>
          <p:cNvPr id="66" name="Hexagon 65"/>
          <p:cNvSpPr/>
          <p:nvPr/>
        </p:nvSpPr>
        <p:spPr>
          <a:xfrm rot="5400000">
            <a:off x="2141564" y="5769864"/>
            <a:ext cx="654631" cy="566928"/>
          </a:xfrm>
          <a:prstGeom prst="hexagon">
            <a:avLst/>
          </a:prstGeom>
          <a:solidFill>
            <a:srgbClr val="1C1428"/>
          </a:solidFill>
          <a:ln w="15240">
            <a:solidFill>
              <a:srgbClr val="B47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743200" y="594360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B47FE8"/>
                </a:solidFill>
                <a:latin typeface="微软雅黑"/>
              </a:rPr>
              <a:t>›</a:t>
            </a:r>
          </a:p>
        </p:txBody>
      </p:sp>
      <p:sp>
        <p:nvSpPr>
          <p:cNvPr id="68" name="Hexagon 67"/>
          <p:cNvSpPr/>
          <p:nvPr/>
        </p:nvSpPr>
        <p:spPr>
          <a:xfrm rot="5400000">
            <a:off x="2854796" y="5769864"/>
            <a:ext cx="654631" cy="566928"/>
          </a:xfrm>
          <a:prstGeom prst="hexagon">
            <a:avLst/>
          </a:prstGeom>
          <a:solidFill>
            <a:srgbClr val="1C1428"/>
          </a:solidFill>
          <a:ln w="15240">
            <a:solidFill>
              <a:srgbClr val="B47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456432" y="594360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B47FE8"/>
                </a:solidFill>
                <a:latin typeface="微软雅黑"/>
              </a:rPr>
              <a:t>›</a:t>
            </a:r>
          </a:p>
        </p:txBody>
      </p:sp>
      <p:sp>
        <p:nvSpPr>
          <p:cNvPr id="70" name="Hexagon 69"/>
          <p:cNvSpPr/>
          <p:nvPr/>
        </p:nvSpPr>
        <p:spPr>
          <a:xfrm rot="5400000">
            <a:off x="3568028" y="5769864"/>
            <a:ext cx="654631" cy="566928"/>
          </a:xfrm>
          <a:prstGeom prst="hexagon">
            <a:avLst/>
          </a:prstGeom>
          <a:solidFill>
            <a:srgbClr val="1C1428"/>
          </a:solidFill>
          <a:ln w="15240">
            <a:solidFill>
              <a:srgbClr val="B47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169664" y="594360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B47FE8"/>
                </a:solidFill>
                <a:latin typeface="微软雅黑"/>
              </a:rPr>
              <a:t>›</a:t>
            </a:r>
          </a:p>
        </p:txBody>
      </p:sp>
      <p:sp>
        <p:nvSpPr>
          <p:cNvPr id="72" name="Hexagon 71"/>
          <p:cNvSpPr/>
          <p:nvPr/>
        </p:nvSpPr>
        <p:spPr>
          <a:xfrm rot="5400000">
            <a:off x="4281260" y="5769864"/>
            <a:ext cx="654631" cy="566928"/>
          </a:xfrm>
          <a:prstGeom prst="hexagon">
            <a:avLst/>
          </a:prstGeom>
          <a:solidFill>
            <a:srgbClr val="1C1428"/>
          </a:solidFill>
          <a:ln w="15240">
            <a:solidFill>
              <a:srgbClr val="B47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2B1C"/>
                </a:solidFill>
                <a:latin typeface="微软雅黑"/>
              </a:rPr>
              <a:t>08 · 红线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76072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EE7DD"/>
                </a:solidFill>
                <a:latin typeface="微软雅黑"/>
              </a:rPr>
              <a:t>美术红线：明确不做什么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52144"/>
            <a:ext cx="548640" cy="4064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A93A6"/>
                </a:solidFill>
                <a:latin typeface="微软雅黑"/>
              </a:rPr>
              <a:t>红线比方向更省钱 —— 它挡掉的是“画完了才发现不能用”。所有 AI prompt 必带 no gore。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8251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6476"/>
                </a:solidFill>
                <a:latin typeface="微软雅黑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9404E"/>
                </a:solidFill>
                <a:latin typeface="微软雅黑"/>
              </a:rPr>
              <a:t>《（暂名）Hex Spire》 美术高概念 v0.1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65960"/>
            <a:ext cx="5166360" cy="64008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0391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3B30"/>
                </a:solidFill>
                <a:latin typeface="微软雅黑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2020824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不做血浆、内脏、断肢、尸体特写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295144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恐怖来自逻辑错误。血浆会拉低成廉价恐怖，且提高分级与平台风险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1965960"/>
            <a:ext cx="5166360" cy="64008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20391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3B30"/>
                </a:solidFill>
                <a:latin typeface="微软雅黑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5976" y="2020824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不做突然出现的 jump scare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5976" y="2295144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45 分钟一局、玩几百小时。第二次就失效，第十次变成骚扰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52344"/>
            <a:ext cx="5166360" cy="64008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28254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3B30"/>
                </a:solidFill>
                <a:latin typeface="微软雅黑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280720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不做无源的紫色氛围光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308152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§5.1 —— 廉价感第一来源。光源必须有现实出处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2752344"/>
            <a:ext cx="5166360" cy="64008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28254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3B30"/>
                </a:solidFill>
                <a:latin typeface="微软雅黑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5976" y="280720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战斗中不做镜头旋转 / 抖屏遮挡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5976" y="308152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六边形战场旋转后玩家失去方位感；抖屏影响精确点击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538728"/>
            <a:ext cx="5166360" cy="64008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" y="36118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3B30"/>
                </a:solidFill>
                <a:latin typeface="微软雅黑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" y="359359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场景里不出现高明度亮红（V 上限 45%）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" y="386791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会摧毁“红 = 威胁”的信息通道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0488" y="3538728"/>
            <a:ext cx="5166360" cy="64008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36792" y="36118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3B30"/>
                </a:solidFill>
                <a:latin typeface="微软雅黑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5976" y="359359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不把功能色用于装饰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5976" y="386791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功能色是玩家的信息通道，不是氛围工具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25112"/>
            <a:ext cx="5166360" cy="64008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2" y="439826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3B30"/>
                </a:solidFill>
                <a:latin typeface="微软雅黑"/>
              </a:rPr>
              <a:t>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" y="4379976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不做古风 / 仙侠画风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" y="4654296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“东方”在本项目里是符号与母题，不是画风。底子是现代写实城市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0488" y="4325112"/>
            <a:ext cx="5166360" cy="64008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36792" y="439826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3B30"/>
                </a:solidFill>
                <a:latin typeface="微软雅黑"/>
              </a:rPr>
              <a:t>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65976" y="4379976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不做过量东方符号堆砌（每房间 ≤3 条）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65976" y="4654296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堆砌 = 主题变装饰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111496"/>
            <a:ext cx="5166360" cy="64008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4672" y="51846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3B30"/>
                </a:solidFill>
                <a:latin typeface="微软雅黑"/>
              </a:rPr>
              <a:t>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" y="516636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不为腐蚀度重绘场景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" y="544068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必须走后处理 + 贴花（§11）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90488" y="5111496"/>
            <a:ext cx="5166360" cy="640080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36792" y="51846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3B30"/>
                </a:solidFill>
                <a:latin typeface="微软雅黑"/>
              </a:rPr>
              <a:t>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65976" y="516636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不做超过 0.4s 的战斗特效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65976" y="544068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R8 —— 肉鸽玩家会玩几百小时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943600"/>
            <a:ext cx="10874959" cy="402336"/>
          </a:xfrm>
          <a:prstGeom prst="rect">
            <a:avLst/>
          </a:prstGeom>
          <a:solidFill>
            <a:srgbClr val="1A14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58368" y="5943600"/>
            <a:ext cx="38100" cy="402336"/>
          </a:xfrm>
          <a:prstGeom prst="rect">
            <a:avLst/>
          </a:prstGeom>
          <a:solidFill>
            <a:srgbClr val="FFC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9536" y="603504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C94D"/>
                </a:solidFill>
                <a:latin typeface="微软雅黑"/>
              </a:rPr>
              <a:t>⚠ </a:t>
            </a:r>
            <a:r>
              <a:rPr sz="1100" b="0" i="0">
                <a:solidFill>
                  <a:srgbClr val="8A93A6"/>
                </a:solidFill>
                <a:latin typeface="微软雅黑"/>
              </a:rPr>
              <a:t>不使用来源不明的参考图作为最终资产。moodboard 阶段的 AI 生成图与网络参考仅供内部沟通；正式资产必须原创或有明确授权。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2B1C"/>
                </a:solidFill>
                <a:latin typeface="微软雅黑"/>
              </a:rPr>
              <a:t>08 · 排期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76072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EE7DD"/>
                </a:solidFill>
                <a:latin typeface="微软雅黑"/>
              </a:rPr>
              <a:t>M0 资产清单：目标不是好看，是验证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52144"/>
            <a:ext cx="548640" cy="4064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A93A6"/>
                </a:solidFill>
                <a:latin typeface="微软雅黑"/>
              </a:rPr>
              <a:t>对齐策划案 §17 的 M0（技术验证 Vertical Slice，2–3 周）。第一个 demo 纯灰盒 —— 验证“这游戏好玩吗”，不是“好看吗”。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8251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6476"/>
                </a:solidFill>
                <a:latin typeface="微软雅黑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9404E"/>
                </a:solidFill>
                <a:latin typeface="微软雅黑"/>
              </a:rPr>
              <a:t>《（暂名）Hex Spire》 美术高概念 v0.1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65960"/>
            <a:ext cx="6903720" cy="301752"/>
          </a:xfrm>
          <a:prstGeom prst="rect">
            <a:avLst/>
          </a:prstGeom>
          <a:solidFill>
            <a:srgbClr val="1D2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025396"/>
            <a:ext cx="154533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C94D"/>
                </a:solidFill>
                <a:latin typeface="微软雅黑"/>
              </a:rPr>
              <a:t>资产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0592" y="2025396"/>
            <a:ext cx="12252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C94D"/>
                </a:solidFill>
                <a:latin typeface="微软雅黑"/>
              </a:rPr>
              <a:t>数量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2" y="2025396"/>
            <a:ext cx="81381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C94D"/>
                </a:solidFill>
                <a:latin typeface="微软雅黑"/>
              </a:rPr>
              <a:t>精度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2025396"/>
            <a:ext cx="247802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C94D"/>
                </a:solidFill>
                <a:latin typeface="微软雅黑"/>
              </a:rPr>
              <a:t>用途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025396"/>
            <a:ext cx="1097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2267712"/>
            <a:ext cx="6903720" cy="347472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6903720" cy="7620"/>
          </a:xfrm>
          <a:prstGeom prst="rect">
            <a:avLst/>
          </a:prstGeom>
          <a:solidFill>
            <a:srgbClr val="262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2322576"/>
            <a:ext cx="154533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EEE7DD"/>
                </a:solidFill>
                <a:latin typeface="微软雅黑"/>
              </a:rPr>
              <a:t>MB-03 可读性板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0592" y="2322576"/>
            <a:ext cx="12252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1 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2192" y="2322576"/>
            <a:ext cx="8138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2322576"/>
            <a:ext cx="2478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前置于以下所有 UI 工作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322576"/>
            <a:ext cx="10972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2615184"/>
            <a:ext cx="6903720" cy="7620"/>
          </a:xfrm>
          <a:prstGeom prst="rect">
            <a:avLst/>
          </a:prstGeom>
          <a:solidFill>
            <a:srgbClr val="262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2670048"/>
            <a:ext cx="154533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EEE7DD"/>
                </a:solidFill>
                <a:latin typeface="微软雅黑"/>
              </a:rPr>
              <a:t>六边形 tile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592" y="2670048"/>
            <a:ext cx="12252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3 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22192" y="2670048"/>
            <a:ext cx="8138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/>
              </a:rPr>
              <a:t>灰盒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670048"/>
            <a:ext cx="2478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验证 §9.1 尺寸参数与 odd-r 对齐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670048"/>
            <a:ext cx="10972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" y="2962656"/>
            <a:ext cx="6903720" cy="347472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8368" y="2962656"/>
            <a:ext cx="6903720" cy="7620"/>
          </a:xfrm>
          <a:prstGeom prst="rect">
            <a:avLst/>
          </a:prstGeom>
          <a:solidFill>
            <a:srgbClr val="262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" y="3017520"/>
            <a:ext cx="154533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EEE7DD"/>
                </a:solidFill>
                <a:latin typeface="微软雅黑"/>
              </a:rPr>
              <a:t>高亮层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50592" y="3017520"/>
            <a:ext cx="12252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4 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22192" y="3017520"/>
            <a:ext cx="8138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3DD6D0"/>
                </a:solidFill>
                <a:latin typeface="微软雅黑"/>
              </a:rPr>
              <a:t>正式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82312" y="3017520"/>
            <a:ext cx="2478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验证功能色与 R2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017520"/>
            <a:ext cx="10972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58368" y="3310128"/>
            <a:ext cx="6903720" cy="7620"/>
          </a:xfrm>
          <a:prstGeom prst="rect">
            <a:avLst/>
          </a:prstGeom>
          <a:solidFill>
            <a:srgbClr val="262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8952" y="3364992"/>
            <a:ext cx="154533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EEE7DD"/>
                </a:solidFill>
                <a:latin typeface="微软雅黑"/>
              </a:rPr>
              <a:t>单位占位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50592" y="3364992"/>
            <a:ext cx="12252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1格×2 3格×1 6格×1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22192" y="3364992"/>
            <a:ext cx="8138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3DD6D0"/>
                </a:solidFill>
                <a:latin typeface="微软雅黑"/>
              </a:rPr>
              <a:t>灰盒+正式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82312" y="3364992"/>
            <a:ext cx="2478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验证体型可读性（D8 最大风险）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3364992"/>
            <a:ext cx="10972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FFC94D"/>
                </a:solidFill>
                <a:latin typeface="微软雅黑"/>
              </a:rPr>
              <a:t>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3657600"/>
            <a:ext cx="6903720" cy="347472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58368" y="3657600"/>
            <a:ext cx="6903720" cy="7620"/>
          </a:xfrm>
          <a:prstGeom prst="rect">
            <a:avLst/>
          </a:prstGeom>
          <a:solidFill>
            <a:srgbClr val="262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8952" y="3712464"/>
            <a:ext cx="154533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EEE7DD"/>
                </a:solidFill>
                <a:latin typeface="微软雅黑"/>
              </a:rPr>
              <a:t>意图图标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50592" y="3712464"/>
            <a:ext cx="12252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6 种 + 可躲/追踪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22192" y="3712464"/>
            <a:ext cx="8138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3DD6D0"/>
                </a:solidFill>
                <a:latin typeface="微软雅黑"/>
              </a:rPr>
              <a:t>正式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712464"/>
            <a:ext cx="2478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§8.3，策划案 §8.7 的核心验证项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40" y="3712464"/>
            <a:ext cx="10972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FFC94D"/>
                </a:solidFill>
                <a:latin typeface="微软雅黑"/>
              </a:rPr>
              <a:t>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4005072"/>
            <a:ext cx="6903720" cy="7620"/>
          </a:xfrm>
          <a:prstGeom prst="rect">
            <a:avLst/>
          </a:prstGeom>
          <a:solidFill>
            <a:srgbClr val="262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58952" y="4059936"/>
            <a:ext cx="154533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EEE7DD"/>
                </a:solidFill>
                <a:latin typeface="微软雅黑"/>
              </a:rPr>
              <a:t>卡牌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50592" y="4059936"/>
            <a:ext cx="12252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边框 1 + 基石卡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22192" y="4059936"/>
            <a:ext cx="8138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3DD6D0"/>
                </a:solidFill>
                <a:latin typeface="微软雅黑"/>
              </a:rPr>
              <a:t>半正式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82312" y="4059936"/>
            <a:ext cx="2478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验证信息层级与动态数值排版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4059936"/>
            <a:ext cx="10972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58368" y="4352544"/>
            <a:ext cx="6903720" cy="347472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58368" y="4352544"/>
            <a:ext cx="6903720" cy="7620"/>
          </a:xfrm>
          <a:prstGeom prst="rect">
            <a:avLst/>
          </a:prstGeom>
          <a:solidFill>
            <a:srgbClr val="262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8952" y="4407408"/>
            <a:ext cx="154533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EEE7DD"/>
                </a:solidFill>
                <a:latin typeface="微软雅黑"/>
              </a:rPr>
              <a:t>符文槽条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50592" y="4407408"/>
            <a:ext cx="12252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6 槽 + 顺序箭头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22192" y="4407408"/>
            <a:ext cx="8138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3DD6D0"/>
                </a:solidFill>
                <a:latin typeface="微软雅黑"/>
              </a:rPr>
              <a:t>正式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82312" y="4407408"/>
            <a:ext cx="2478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验证策划案 §6.5「顺序可见」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0" y="4407408"/>
            <a:ext cx="10972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FFC94D"/>
                </a:solidFill>
                <a:latin typeface="微软雅黑"/>
              </a:rPr>
              <a:t>⭐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" y="4700016"/>
            <a:ext cx="6903720" cy="7620"/>
          </a:xfrm>
          <a:prstGeom prst="rect">
            <a:avLst/>
          </a:prstGeom>
          <a:solidFill>
            <a:srgbClr val="262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58952" y="4754880"/>
            <a:ext cx="154533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EEE7DD"/>
                </a:solidFill>
                <a:latin typeface="微软雅黑"/>
              </a:rPr>
              <a:t>腐蚀度后处理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50592" y="4754880"/>
            <a:ext cx="12252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4 档参数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22192" y="4754880"/>
            <a:ext cx="8138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3DD6D0"/>
                </a:solidFill>
                <a:latin typeface="微软雅黑"/>
              </a:rPr>
              <a:t>正式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82312" y="4754880"/>
            <a:ext cx="2478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验证不影响 UI 与高亮层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06640" y="4754880"/>
            <a:ext cx="10972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FFC94D"/>
                </a:solidFill>
                <a:latin typeface="微软雅黑"/>
              </a:rPr>
              <a:t>⭐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18120" y="1965960"/>
            <a:ext cx="3712463" cy="1371600"/>
          </a:xfrm>
          <a:prstGeom prst="rect">
            <a:avLst/>
          </a:prstGeom>
          <a:solidFill>
            <a:srgbClr val="0A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818120" y="1965960"/>
            <a:ext cx="3712463" cy="38100"/>
          </a:xfrm>
          <a:prstGeom prst="rect">
            <a:avLst/>
          </a:prstGeom>
          <a:solidFill>
            <a:srgbClr val="3D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019288" y="2139696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DD6D0"/>
                </a:solidFill>
                <a:latin typeface="微软雅黑"/>
              </a:rPr>
              <a:t>M0 的美术验收标准只有一条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19288" y="2450592"/>
            <a:ext cx="33101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 i="0">
                <a:solidFill>
                  <a:srgbClr val="EEE7DD"/>
                </a:solidFill>
                <a:latin typeface="微软雅黑"/>
              </a:rPr>
              <a:t>把战斗画面缩到 25%，能分清 己方 / 敌方 / 体型 / 危害格 / 意图。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微软雅黑"/>
              </a:rPr>
              <a:t>分不清 = 参数还要调，不是“以后加特效就好了”。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18120" y="352958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C94D"/>
                </a:solidFill>
                <a:latin typeface="微软雅黑"/>
              </a:rPr>
              <a:t>M1 追加（单局闭环，4–5 周）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3840480"/>
            <a:ext cx="201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C94D"/>
                </a:solidFill>
                <a:latin typeface="微软雅黑"/>
              </a:rPr>
              <a:t>·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19288" y="3840480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MB-01 / MB-02 完成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18120" y="4251960"/>
            <a:ext cx="201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C94D"/>
                </a:solidFill>
                <a:latin typeface="微软雅黑"/>
              </a:rPr>
              <a:t>·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19288" y="4251960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第一章黄泉线完整 tile 集（7 地形 + 3 危害）+ prop 12 件 + 贴花组 A/B/C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663440"/>
            <a:ext cx="201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C94D"/>
                </a:solidFill>
                <a:latin typeface="微软雅黑"/>
              </a:rPr>
              <a:t>·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19288" y="4663440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怪物 1 格×4、3 格×1（正式）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18120" y="5074920"/>
            <a:ext cx="201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C94D"/>
                </a:solidFill>
                <a:latin typeface="微软雅黑"/>
              </a:rPr>
              <a:t>·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19288" y="5074920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英雄 1 个职业完整 —— 建议镇邪者（现代占比最高、最好画）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486400"/>
            <a:ext cx="201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C94D"/>
                </a:solidFill>
                <a:latin typeface="微软雅黑"/>
              </a:rPr>
              <a:t>·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19288" y="5486400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卡牌边框 4 稀有度 + 20 张卡插画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18120" y="5897880"/>
            <a:ext cx="201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C94D"/>
                </a:solidFill>
                <a:latin typeface="微软雅黑"/>
              </a:rPr>
              <a:t>·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19288" y="5897880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 i="0">
                <a:solidFill>
                  <a:srgbClr val="EEE7DD"/>
                </a:solidFill>
                <a:latin typeface="微软雅黑"/>
              </a:rPr>
              <a:t>地图界面（盲探迷雾）+ 腐蚀度条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58368" y="4956048"/>
            <a:ext cx="6903720" cy="1207008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658368" y="4956048"/>
            <a:ext cx="38100" cy="1207008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59536" y="5102352"/>
            <a:ext cx="6492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1" i="0">
                <a:solidFill>
                  <a:srgbClr val="EEE7DD"/>
                </a:solidFill>
                <a:latin typeface="微软雅黑"/>
              </a:rPr>
              <a:t>注意：M0 没有任何美术交付物需要“画”。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策划案 §14.3 明确 footprint 描边用 Line2D / shader 代码绘制；§12.1 纪律 3 要求战斗可无渲染跑完。上表中的“正式”项全部是功能色参数与图标规范，不是插画 —— 它们由程序 + 规范落地，不阻塞灰盒 demo。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2B1C"/>
                </a:solidFill>
                <a:latin typeface="微软雅黑"/>
              </a:rPr>
              <a:t>08 · 待决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76072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EE7DD"/>
                </a:solidFill>
                <a:latin typeface="微软雅黑"/>
              </a:rPr>
              <a:t>待决问题 A1–A8：确认后升 v0.2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52144"/>
            <a:ext cx="548640" cy="4064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A93A6"/>
                </a:solidFill>
                <a:latin typeface="微软雅黑"/>
              </a:rPr>
              <a:t>文档其余部分已按“本文假设”推进，不等待答复。但这 8 条会影响资产量与管线，建议开工前拍板。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8251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6476"/>
                </a:solidFill>
                <a:latin typeface="微软雅黑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9404E"/>
                </a:solidFill>
                <a:latin typeface="微软雅黑"/>
              </a:rPr>
              <a:t>《（暂名）Hex Spire》 美术高概念 v0.1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38528"/>
            <a:ext cx="10874959" cy="512064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07568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C94D"/>
                </a:solidFill>
                <a:latin typeface="Consolas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756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3 章 vs 5 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08483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tile 集数量，约 40% 场景资产量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084832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3DD6D0"/>
                </a:solidFill>
                <a:latin typeface="微软雅黑"/>
              </a:rPr>
              <a:t>3 章主线 + 2 储备皮肤。要扩章优先扩无尽楼（重复即复用）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62432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C94D"/>
                </a:solidFill>
                <a:latin typeface="Consolas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2432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视角确认（俯视 3/4）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63347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是否需要多朝向 sprite、接地阴影方案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633472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3DD6D0"/>
                </a:solidFill>
                <a:latin typeface="微软雅黑"/>
              </a:rPr>
              <a:t>采纳 3/4。策划案 §14.3 的 y_sort 已隐含此结论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035808"/>
            <a:ext cx="10874959" cy="512064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17296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C94D"/>
                </a:solidFill>
                <a:latin typeface="Consolas"/>
              </a:rPr>
              <a:t>A3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17296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2D 手绘 vs 像素 vs 3D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318211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整条管线与外包对象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3182112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3DD6D0"/>
                </a:solidFill>
                <a:latin typeface="微软雅黑"/>
              </a:rPr>
              <a:t>采纳 2D 手绘 sprite。L0 的质感只有手绘 / 写实能承接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72160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C94D"/>
                </a:solidFill>
                <a:latin typeface="Consolas"/>
              </a:rPr>
              <a:t>A4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72160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职业命名冲突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7328" y="373075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所有角色资产命名、UI 文案、图鉴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8" y="3730752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3DD6D0"/>
                </a:solidFill>
                <a:latin typeface="微软雅黑"/>
              </a:rPr>
              <a:t>对外用 L0 命名，代码 id 用机制原型（hero_exorcist ↔ 骑士）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133088"/>
            <a:ext cx="10874959" cy="512064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42702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C94D"/>
                </a:solidFill>
                <a:latin typeface="Consolas"/>
              </a:rPr>
              <a:t>A5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27024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单位朝向数量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7328" y="427939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动画量 ×N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9128" y="4279392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3DD6D0"/>
                </a:solidFill>
                <a:latin typeface="微软雅黑"/>
              </a:rPr>
              <a:t>6 朝向用 3 张图 + 水平翻转（前 / 侧 / 背），不做 6 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81888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C94D"/>
                </a:solidFill>
                <a:latin typeface="Consolas"/>
              </a:rPr>
              <a:t>A6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8188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“战场即 Boss”方案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67328" y="482803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Boss 战的实现方式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9128" y="4828032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3DD6D0"/>
                </a:solidFill>
                <a:latin typeface="微软雅黑"/>
              </a:rPr>
              <a:t>强烈建议采用。省一整套大型单位动画，更符合调性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230368"/>
            <a:ext cx="10874959" cy="512064"/>
          </a:xfrm>
          <a:prstGeom prst="rect">
            <a:avLst/>
          </a:prstGeom>
          <a:solidFill>
            <a:srgbClr val="1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2" y="536752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C94D"/>
                </a:solidFill>
                <a:latin typeface="Consolas"/>
              </a:rPr>
              <a:t>A7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36752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目标分辨率与 UI 缩放基准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67328" y="537667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全部出图尺寸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39128" y="5376672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3DD6D0"/>
                </a:solidFill>
                <a:latin typeface="微软雅黑"/>
              </a:rPr>
              <a:t>基准 1920×1080，资产按 2x 出，支持 4K 降采样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" y="591616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C94D"/>
                </a:solidFill>
                <a:latin typeface="Consolas"/>
              </a:rPr>
              <a:t>A8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91616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EE7DD"/>
                </a:solidFill>
                <a:latin typeface="微软雅黑"/>
              </a:rPr>
              <a:t>字体授权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67328" y="592531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93A6"/>
                </a:solidFill>
                <a:latin typeface="微软雅黑"/>
              </a:rPr>
              <a:t>宋体 / 楷体的商用授权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39128" y="5925312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3DD6D0"/>
                </a:solidFill>
                <a:latin typeface="微软雅黑"/>
              </a:rPr>
              <a:t>尽早确认。免费可商用备选：思源宋体、霞鹜文楷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67328" y="173736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5B6476"/>
                </a:solidFill>
                <a:latin typeface="微软雅黑"/>
              </a:rPr>
              <a:t>阻塞什么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39128" y="173736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5B6476"/>
                </a:solidFill>
                <a:latin typeface="微软雅黑"/>
              </a:rPr>
              <a:t>本文建议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6382512"/>
            <a:ext cx="10874959" cy="8890"/>
          </a:xfrm>
          <a:prstGeom prst="rect">
            <a:avLst/>
          </a:prstGeom>
          <a:solidFill>
            <a:srgbClr val="262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2B1C"/>
                </a:solidFill>
                <a:latin typeface="微软雅黑"/>
              </a:rPr>
              <a:t>附录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76072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EE7DD"/>
                </a:solidFill>
                <a:latin typeface="微软雅黑"/>
              </a:rPr>
              <a:t>一页速查：可打印贴墙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52144"/>
            <a:ext cx="548640" cy="40640"/>
          </a:xfrm>
          <a:prstGeom prst="rect">
            <a:avLst/>
          </a:prstGeom>
          <a:solidFill>
            <a:srgbClr val="6D0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A93A6"/>
                </a:solidFill>
                <a:latin typeface="微软雅黑"/>
              </a:rPr>
              <a:t>外包沟通、AI 出图、日常评审都用这一页。争议出现时，先回到这十条。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8251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6476"/>
                </a:solidFill>
                <a:latin typeface="微软雅黑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74519"/>
            <a:ext cx="10874959" cy="4279392"/>
          </a:xfrm>
          <a:prstGeom prst="rect">
            <a:avLst/>
          </a:prstGeom>
          <a:solidFill>
            <a:srgbClr val="080B12"/>
          </a:solidFill>
          <a:ln w="9525">
            <a:solidFill>
              <a:srgbClr val="262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048256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C94D"/>
                </a:solidFill>
                <a:latin typeface="微软雅黑"/>
              </a:rPr>
              <a:t>【定位】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048256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EE7DD"/>
                </a:solidFill>
                <a:latin typeface="微软雅黑"/>
              </a:rPr>
              <a:t>90% 真实城市 + 10% 不对劲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231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C94D"/>
                </a:solidFill>
                <a:latin typeface="微软雅黑"/>
              </a:rPr>
              <a:t>【支柱】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423160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3DD6D0"/>
                </a:solidFill>
                <a:latin typeface="微软雅黑"/>
              </a:rPr>
              <a:t>V3 可读性 &gt; V1 可信度 &gt; V2 克制    ← 冲突时永远牺牲氛围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98064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C94D"/>
                </a:solidFill>
                <a:latin typeface="微软雅黑"/>
              </a:rPr>
              <a:t>【公式】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2798064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A2B1C"/>
                </a:solidFill>
                <a:latin typeface="微软雅黑"/>
              </a:rPr>
              <a:t>传统母题 × 现代载体 × 一处日常逻辑错误   （每房间 ≤3 条）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17296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C94D"/>
                </a:solidFill>
                <a:latin typeface="微软雅黑"/>
              </a:rPr>
              <a:t>【色板】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3172968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A93A6"/>
                </a:solidFill>
                <a:latin typeface="Consolas"/>
              </a:rPr>
              <a:t>#0B0C17 墨夜 / #2D3949 钢灰 / #3D2B45 靛紫 / #EEE7DD 香灰 / #6D0409 朱红(≤3%)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54787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C94D"/>
                </a:solidFill>
                <a:latin typeface="微软雅黑"/>
              </a:rPr>
              <a:t>【分章】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3547872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6C4464"/>
                </a:solidFill>
                <a:latin typeface="微软雅黑"/>
              </a:rPr>
              <a:t>一章 靛蓝紫(地铁)   二章 暗红橙(商场)   终章 青灰冷绿(医院·唯一明亮)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922776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C94D"/>
                </a:solidFill>
                <a:latin typeface="微软雅黑"/>
              </a:rPr>
              <a:t>【红色】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3922776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F3B30"/>
                </a:solidFill>
                <a:latin typeface="微软雅黑"/>
              </a:rPr>
              <a:t>压暗不动的红是装饰，明亮会动的红是威胁  （场景红 V≤45%，UI 红 V=100%）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29768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C94D"/>
                </a:solidFill>
                <a:latin typeface="微软雅黑"/>
              </a:rPr>
              <a:t>【高亮】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088" y="4297680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3DD6D0"/>
                </a:solidFill>
                <a:latin typeface="微软雅黑"/>
              </a:rPr>
              <a:t>地面高亮只许两色：青蓝=合法/己方，亮红=危险/非法。其余功能色只上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672584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C94D"/>
                </a:solidFill>
                <a:latin typeface="微软雅黑"/>
              </a:rPr>
              <a:t>【体型】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7088" y="4672584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FC94D"/>
                </a:solidFill>
                <a:latin typeface="微软雅黑"/>
              </a:rPr>
              <a:t>1格=人形 / 3格=非人比例 / 6格=建筑尺度  +  footprint描边 + 每格接地阴影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04748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C94D"/>
                </a:solidFill>
                <a:latin typeface="微软雅黑"/>
              </a:rPr>
              <a:t>【腐蚀】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47088" y="5047488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B47FE8"/>
                </a:solidFill>
                <a:latin typeface="微软雅黑"/>
              </a:rPr>
              <a:t>一张底图 + 三组贴花 + 四档后处理   （后处理不得影响 UI 与高亮层）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542239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C94D"/>
                </a:solidFill>
                <a:latin typeface="微软雅黑"/>
              </a:rPr>
              <a:t>【红线】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47088" y="5422392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F3B30"/>
                </a:solidFill>
                <a:latin typeface="微软雅黑"/>
              </a:rPr>
              <a:t>无血浆 / 无 jump scare / 无无源紫光 / 场景无高饱和红 / 无古风画风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797296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C94D"/>
                </a:solidFill>
                <a:latin typeface="微软雅黑"/>
              </a:rPr>
              <a:t>【验收】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47088" y="5797296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3DD6D0"/>
                </a:solidFill>
                <a:latin typeface="微软雅黑"/>
              </a:rPr>
              <a:t>缩到 25% 还分得清 己方·敌方·体型·危害格·意图 = 合格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27278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476"/>
                </a:solidFill>
                <a:latin typeface="微软雅黑"/>
              </a:rPr>
              <a:t>v0.1 —— 与 00_系统策划案.md v0.3 对齐。A1–A8 确认后升 v0.2。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3115</Words>
  <Application>Microsoft Office PowerPoint</Application>
  <PresentationFormat>Widescreen</PresentationFormat>
  <Paragraphs>675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微软雅黑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Xuejian Zheng</cp:lastModifiedBy>
  <cp:revision>2</cp:revision>
  <dcterms:created xsi:type="dcterms:W3CDTF">2013-01-27T09:14:16Z</dcterms:created>
  <dcterms:modified xsi:type="dcterms:W3CDTF">2026-08-31T10:14:10Z</dcterms:modified>
  <cp:category/>
</cp:coreProperties>
</file>